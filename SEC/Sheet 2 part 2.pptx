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1"/>
    <p:sldMasterId id="2147483770" r:id="rId2"/>
  </p:sldMasterIdLst>
  <p:notesMasterIdLst>
    <p:notesMasterId r:id="rId38"/>
  </p:notesMasterIdLst>
  <p:sldIdLst>
    <p:sldId id="256" r:id="rId3"/>
    <p:sldId id="257" r:id="rId4"/>
    <p:sldId id="258" r:id="rId5"/>
    <p:sldId id="260" r:id="rId6"/>
    <p:sldId id="287" r:id="rId7"/>
    <p:sldId id="289" r:id="rId8"/>
    <p:sldId id="288" r:id="rId9"/>
    <p:sldId id="318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9" r:id="rId18"/>
    <p:sldId id="261" r:id="rId19"/>
    <p:sldId id="317" r:id="rId20"/>
    <p:sldId id="380" r:id="rId21"/>
    <p:sldId id="381" r:id="rId22"/>
    <p:sldId id="316" r:id="rId23"/>
    <p:sldId id="303" r:id="rId24"/>
    <p:sldId id="304" r:id="rId25"/>
    <p:sldId id="305" r:id="rId26"/>
    <p:sldId id="306" r:id="rId27"/>
    <p:sldId id="315" r:id="rId28"/>
    <p:sldId id="310" r:id="rId29"/>
    <p:sldId id="311" r:id="rId30"/>
    <p:sldId id="313" r:id="rId31"/>
    <p:sldId id="319" r:id="rId32"/>
    <p:sldId id="376" r:id="rId33"/>
    <p:sldId id="377" r:id="rId34"/>
    <p:sldId id="378" r:id="rId35"/>
    <p:sldId id="322" r:id="rId36"/>
    <p:sldId id="379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B46077-4D8C-41C0-8BD9-70E9D8C7E04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875771-5122-457E-936E-90DE256BD8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895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413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076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189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227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967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395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661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075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404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963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660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5C098-CFEC-45C5-85FF-1C57E4FE5B0B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EAF54-47B1-499F-BF9F-CFE99DE8F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23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5BDF7-86D1-5269-6639-6FE0ED421E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02BBCE-C26B-E467-B3C8-2D8420446D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F56FF-9167-AACE-C28F-0F6BE748B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A8235-C6BF-C66F-3998-1D7E9B384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FD6C7-13FD-4CCE-C446-DCAE7C23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2703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7C3C3-16BB-B077-3ED8-7C992432D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F4E93-ECDB-E3DE-1EFD-6090E3121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84BAC-80EE-6200-87BA-CCACA3F6F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3CB99-31F5-A460-4671-E7CBEB30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D6F40-F3BA-EDC5-29E3-052584A4D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8399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1C1BB-5CCB-74C3-5263-276B08FC4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70639-40DE-E5CC-2B5A-16676369B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3DCAD-407C-01D3-EC95-813FBE704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514C3-B778-07BD-3468-20D95976B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CF3B7-C68F-D36C-B2A3-F667CEA0E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795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29A41-BCB1-CEEB-5214-78521BBB2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73D5E-B21A-DD79-1B79-8174F52D26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A168D5-34D1-FF6C-CB43-6AAD33802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6F0840-19EC-B1AF-90A7-0EF801420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D7879-985E-BED7-6992-6E89C4003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BE116C-72D8-3F2F-84DC-41E7E4639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1751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7B6FE-E469-53EB-F87A-2448B253E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4A1B00-AF3D-20E0-E31A-D50692904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C06DC-2B9C-C26C-BA88-BAC9EBE635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76AE8C-C50A-C9C8-3EF9-F835CEF3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49E38A-F097-55BF-2302-77A1EA6EA5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8B6AC6-E31A-873D-A766-1E94B8605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E95A05-7C84-8C65-C864-F1640EE58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205BD1-4A1C-8515-A049-9E4059E4F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1433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51582-D686-5733-DAA2-01C245FEA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66047F-7781-1297-3EDB-97D352A2D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C20DB4-801B-41F2-E4FC-743AEFDFC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A64CE4-B2B0-4B1F-5A88-93F755EDB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4487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563B03-1880-3A53-C601-EDA2C6E58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FB9F51-DE7D-6059-83D8-50DAF899B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6F91AF-87E9-D412-6578-9CBF637BD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2466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6560A-B3D7-CB93-3FE5-7FBC15A85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81677-B5B5-F7CC-F30A-4C362A1A1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9A1AA7-F575-12E2-30A5-E983FA036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E161AE-0C3F-7891-0408-D06B90575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DE28B0-7C23-E0A8-855B-E438D672D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4E9414-003F-E9C8-E97B-862E830EA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8033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23CD5-9BB1-7DCE-8AC8-4FCDECA8F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2329AC-5E0D-111C-BFE2-6BF5A3566C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71FED4-E8CA-A31D-3C7E-CB50EF58E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01594A-CF2A-E6BC-C87E-5818D727E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8D73E7-388D-5751-8B74-AA77177F1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3770D3-ED4A-DAA1-2718-90615DD25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7463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8292E-5F33-E54A-7BB5-79448296B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97313D-46E4-2B41-29D0-91DFEFBFF6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34C7C-6FF5-2E2D-1AAE-4208112D2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9B96F-53A9-B67B-FC8B-5C7D975DD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384CA-4872-FAA5-298A-C69C07A8C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7038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2FFAB5-2119-F650-BAB3-1560E6B4FC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16AB58-6CAB-B78F-C0E7-CFD7E76504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D5784-C313-BFC5-549A-1C4E1FD8A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41F4B-E5D4-A48C-120A-C93CD1D12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25D5F-CC20-DA61-EB98-732DB4117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5239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5C098-CFEC-45C5-85FF-1C57E4FE5B0B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EAF54-47B1-499F-BF9F-CFE99DE8F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095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365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DCC75E-114A-75A3-24C0-C89FD8445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57AD5-4CB7-C472-2BC3-C77FCCF21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6A927-0AD8-EABB-1891-C19D1DD0C6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6ADD4-7225-81C8-17D2-DD73C20A9E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CDEF5-C4E2-3AC9-323F-EF7F2CF0F4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416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e and purple dots&#10;&#10;Description automatically generated">
            <a:extLst>
              <a:ext uri="{FF2B5EF4-FFF2-40B4-BE49-F238E27FC236}">
                <a16:creationId xmlns:a16="http://schemas.microsoft.com/office/drawing/2014/main" id="{EB8DF071-FF9F-A2B2-0786-E5816DA491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33"/>
          <a:stretch/>
        </p:blipFill>
        <p:spPr>
          <a:xfrm>
            <a:off x="20" y="10"/>
            <a:ext cx="6095980" cy="685799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0" y="0"/>
                </a:moveTo>
                <a:lnTo>
                  <a:pt x="2758239" y="0"/>
                </a:lnTo>
                <a:lnTo>
                  <a:pt x="2916747" y="218181"/>
                </a:lnTo>
                <a:cubicBezTo>
                  <a:pt x="3525935" y="1023180"/>
                  <a:pt x="4281133" y="1818277"/>
                  <a:pt x="4839749" y="2631787"/>
                </a:cubicBezTo>
                <a:cubicBezTo>
                  <a:pt x="5571203" y="3696928"/>
                  <a:pt x="6122704" y="4799581"/>
                  <a:pt x="6095001" y="5672947"/>
                </a:cubicBezTo>
                <a:cubicBezTo>
                  <a:pt x="6083564" y="6040467"/>
                  <a:pt x="5972980" y="6348559"/>
                  <a:pt x="5792922" y="6612444"/>
                </a:cubicBezTo>
                <a:cubicBezTo>
                  <a:pt x="5755410" y="6667420"/>
                  <a:pt x="5714882" y="6720477"/>
                  <a:pt x="5671607" y="6771753"/>
                </a:cubicBezTo>
                <a:lnTo>
                  <a:pt x="5591643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B428CE-A8A5-CCBF-BF2A-5BDCEEB180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0" y="1524000"/>
            <a:ext cx="4572000" cy="2286000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Sheet 2: Search</a:t>
            </a:r>
            <a:br>
              <a:rPr lang="en-US" sz="4400" dirty="0"/>
            </a:br>
            <a:r>
              <a:rPr lang="en-US" sz="4400" dirty="0"/>
              <a:t>Best First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9178AA-E726-2A30-504C-8A7D524747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571999"/>
            <a:ext cx="4572000" cy="152400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Eng. Abdulrahman </a:t>
            </a:r>
            <a:r>
              <a:rPr lang="en-US" dirty="0" err="1"/>
              <a:t>ElMadkhoum</a:t>
            </a:r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881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E57F62-88D1-1BFE-F79B-5C7B7FA6B6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50" y="0"/>
            <a:ext cx="9501188" cy="25288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CC999F-2FA1-C97F-D853-2688188CE3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50" y="2528888"/>
            <a:ext cx="9501188" cy="432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235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B6748E-368D-015B-2B52-DAE79F5CB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BEST First Search</a:t>
            </a:r>
            <a:br>
              <a:rPr lang="en-US" sz="6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6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Misplaced Tiles</a:t>
            </a:r>
            <a:endParaRPr lang="en-US" sz="61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54719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2412A9-A8E6-7D4F-389F-CD78DF400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7198D60-EC65-F16F-20E9-94B2E5088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467" y="1028188"/>
            <a:ext cx="2082907" cy="22543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B14629-6B4A-E405-3C26-1E0E34885337}"/>
              </a:ext>
            </a:extLst>
          </p:cNvPr>
          <p:cNvSpPr txBox="1"/>
          <p:nvPr/>
        </p:nvSpPr>
        <p:spPr>
          <a:xfrm>
            <a:off x="2386974" y="3315211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Initial State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FFCB82-AD82-E155-BB71-6611C9D50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955" y="1028188"/>
            <a:ext cx="1917732" cy="21525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AE45D7B-388C-54C6-69E1-2200FDE2BECC}"/>
              </a:ext>
            </a:extLst>
          </p:cNvPr>
          <p:cNvSpPr txBox="1"/>
          <p:nvPr/>
        </p:nvSpPr>
        <p:spPr>
          <a:xfrm>
            <a:off x="9067800" y="3277232"/>
            <a:ext cx="1354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Goal State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18356D-53D5-2072-79F1-4165F7A41B68}"/>
              </a:ext>
            </a:extLst>
          </p:cNvPr>
          <p:cNvSpPr txBox="1"/>
          <p:nvPr/>
        </p:nvSpPr>
        <p:spPr>
          <a:xfrm>
            <a:off x="489857" y="304800"/>
            <a:ext cx="70727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First, Calculate Heuristic using Misplaced Tiles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78F967-F1F7-E2AB-6C21-38F6010721B8}"/>
              </a:ext>
            </a:extLst>
          </p:cNvPr>
          <p:cNvSpPr txBox="1"/>
          <p:nvPr/>
        </p:nvSpPr>
        <p:spPr>
          <a:xfrm>
            <a:off x="1266971" y="3651736"/>
            <a:ext cx="3719898" cy="31393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1 is misplaced</a:t>
            </a:r>
          </a:p>
          <a:p>
            <a:r>
              <a:rPr lang="en-US" dirty="0"/>
              <a:t>2 is misplaced</a:t>
            </a:r>
          </a:p>
          <a:p>
            <a:r>
              <a:rPr lang="en-US" dirty="0"/>
              <a:t>3 is ok</a:t>
            </a:r>
          </a:p>
          <a:p>
            <a:r>
              <a:rPr lang="en-US" dirty="0"/>
              <a:t>4 is ok</a:t>
            </a:r>
          </a:p>
          <a:p>
            <a:r>
              <a:rPr lang="en-US" dirty="0"/>
              <a:t>5 is ok</a:t>
            </a:r>
          </a:p>
          <a:p>
            <a:r>
              <a:rPr lang="en-US" dirty="0"/>
              <a:t>6 is misplaced</a:t>
            </a:r>
          </a:p>
          <a:p>
            <a:r>
              <a:rPr lang="en-US" dirty="0"/>
              <a:t>7 is ok</a:t>
            </a:r>
          </a:p>
          <a:p>
            <a:r>
              <a:rPr lang="en-US" dirty="0"/>
              <a:t>8 is misplaced</a:t>
            </a:r>
          </a:p>
          <a:p>
            <a:r>
              <a:rPr lang="en-US" dirty="0"/>
              <a:t>So, heuristic here = 1+1+1+1 =</a:t>
            </a:r>
            <a:r>
              <a:rPr lang="en-US" b="1" dirty="0"/>
              <a:t>4</a:t>
            </a:r>
          </a:p>
          <a:p>
            <a:endParaRPr lang="en-US" b="1" dirty="0"/>
          </a:p>
          <a:p>
            <a:r>
              <a:rPr lang="en-US" b="1" dirty="0"/>
              <a:t>H(n)=4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2B3239-024B-A765-62FF-D879B7C139A9}"/>
              </a:ext>
            </a:extLst>
          </p:cNvPr>
          <p:cNvSpPr txBox="1"/>
          <p:nvPr/>
        </p:nvSpPr>
        <p:spPr>
          <a:xfrm>
            <a:off x="7872823" y="3743051"/>
            <a:ext cx="338599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H(n) = 0</a:t>
            </a:r>
          </a:p>
        </p:txBody>
      </p:sp>
    </p:spTree>
    <p:extLst>
      <p:ext uri="{BB962C8B-B14F-4D97-AF65-F5344CB8AC3E}">
        <p14:creationId xmlns:p14="http://schemas.microsoft.com/office/powerpoint/2010/main" val="3777012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86138"/>
          <a:stretch/>
        </p:blipFill>
        <p:spPr>
          <a:xfrm>
            <a:off x="0" y="-1"/>
            <a:ext cx="12192000" cy="9506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4007" y="176542"/>
            <a:ext cx="1711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1+1+1+1 = 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A62F0B-15FB-7A9D-0392-19BA14E2671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14" t="88928" r="19369" b="458"/>
          <a:stretch/>
        </p:blipFill>
        <p:spPr>
          <a:xfrm>
            <a:off x="11506953" y="176542"/>
            <a:ext cx="543209" cy="5794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424F25-9A4D-F9CD-88FD-462C9F6F4887}"/>
              </a:ext>
            </a:extLst>
          </p:cNvPr>
          <p:cNvSpPr txBox="1"/>
          <p:nvPr/>
        </p:nvSpPr>
        <p:spPr>
          <a:xfrm>
            <a:off x="11421024" y="-60183"/>
            <a:ext cx="896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Goal</a:t>
            </a:r>
          </a:p>
        </p:txBody>
      </p:sp>
    </p:spTree>
    <p:extLst>
      <p:ext uri="{BB962C8B-B14F-4D97-AF65-F5344CB8AC3E}">
        <p14:creationId xmlns:p14="http://schemas.microsoft.com/office/powerpoint/2010/main" val="2170899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68578"/>
          <a:stretch/>
        </p:blipFill>
        <p:spPr>
          <a:xfrm>
            <a:off x="0" y="-1"/>
            <a:ext cx="12192000" cy="21547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21024" y="-60183"/>
            <a:ext cx="896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0" y="0"/>
            <a:ext cx="2441418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944007" y="176542"/>
            <a:ext cx="1711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1+1+1+1 = 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2D2BD6-3D54-62BC-CA4E-D78E8A26AA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14" t="88928" r="19369" b="458"/>
          <a:stretch/>
        </p:blipFill>
        <p:spPr>
          <a:xfrm>
            <a:off x="11659353" y="328942"/>
            <a:ext cx="543209" cy="5794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91415E-C621-01EE-F761-911F23D0274F}"/>
              </a:ext>
            </a:extLst>
          </p:cNvPr>
          <p:cNvSpPr txBox="1"/>
          <p:nvPr/>
        </p:nvSpPr>
        <p:spPr>
          <a:xfrm>
            <a:off x="11573424" y="92217"/>
            <a:ext cx="896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Goal</a:t>
            </a:r>
          </a:p>
        </p:txBody>
      </p:sp>
    </p:spTree>
    <p:extLst>
      <p:ext uri="{BB962C8B-B14F-4D97-AF65-F5344CB8AC3E}">
        <p14:creationId xmlns:p14="http://schemas.microsoft.com/office/powerpoint/2010/main" val="2970720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68578"/>
          <a:stretch/>
        </p:blipFill>
        <p:spPr>
          <a:xfrm>
            <a:off x="0" y="-1"/>
            <a:ext cx="12192000" cy="215472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96000" y="0"/>
            <a:ext cx="2441418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944007" y="176542"/>
            <a:ext cx="1711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1+1+1+1 = 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C5E10D-9DF8-D3F4-2587-998C23C9326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14" t="88928" r="19369" b="458"/>
          <a:stretch/>
        </p:blipFill>
        <p:spPr>
          <a:xfrm>
            <a:off x="11506953" y="176542"/>
            <a:ext cx="543209" cy="5794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400998-2ACF-F65E-0369-E15222E36622}"/>
              </a:ext>
            </a:extLst>
          </p:cNvPr>
          <p:cNvSpPr txBox="1"/>
          <p:nvPr/>
        </p:nvSpPr>
        <p:spPr>
          <a:xfrm>
            <a:off x="11421024" y="-60183"/>
            <a:ext cx="896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Goal</a:t>
            </a:r>
          </a:p>
        </p:txBody>
      </p:sp>
    </p:spTree>
    <p:extLst>
      <p:ext uri="{BB962C8B-B14F-4D97-AF65-F5344CB8AC3E}">
        <p14:creationId xmlns:p14="http://schemas.microsoft.com/office/powerpoint/2010/main" val="435066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EEFC2-4D7F-ECDB-2C5B-8219528DA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1599D56-9454-1810-85BA-4A62B45E644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68578"/>
          <a:stretch/>
        </p:blipFill>
        <p:spPr>
          <a:xfrm>
            <a:off x="0" y="-1"/>
            <a:ext cx="12192000" cy="2154725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A9AD1B3-72DC-58E7-6625-0C079B621ED4}"/>
              </a:ext>
            </a:extLst>
          </p:cNvPr>
          <p:cNvSpPr/>
          <p:nvPr/>
        </p:nvSpPr>
        <p:spPr>
          <a:xfrm>
            <a:off x="6096000" y="0"/>
            <a:ext cx="2441418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D6C1C8-823D-B5F2-605C-50293FF6F765}"/>
              </a:ext>
            </a:extLst>
          </p:cNvPr>
          <p:cNvSpPr txBox="1"/>
          <p:nvPr/>
        </p:nvSpPr>
        <p:spPr>
          <a:xfrm>
            <a:off x="6944007" y="176542"/>
            <a:ext cx="1711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1+1+1+1 =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C2F439-FFAC-224A-63A0-B0872AA94BBD}"/>
              </a:ext>
            </a:extLst>
          </p:cNvPr>
          <p:cNvSpPr txBox="1"/>
          <p:nvPr/>
        </p:nvSpPr>
        <p:spPr>
          <a:xfrm>
            <a:off x="1229763" y="1424412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1+1+1+1+1=5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FCE51D-27D1-0812-FC4E-BA234451F440}"/>
              </a:ext>
            </a:extLst>
          </p:cNvPr>
          <p:cNvSpPr txBox="1"/>
          <p:nvPr/>
        </p:nvSpPr>
        <p:spPr>
          <a:xfrm>
            <a:off x="5403409" y="1424411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=3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A0CD2F-67FC-D918-C65E-81B384E99546}"/>
              </a:ext>
            </a:extLst>
          </p:cNvPr>
          <p:cNvSpPr txBox="1"/>
          <p:nvPr/>
        </p:nvSpPr>
        <p:spPr>
          <a:xfrm>
            <a:off x="8347295" y="1424410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1+1+1+1+1=5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D3618A-C98A-44C7-7B32-BEFC2110E92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14" t="88928" r="19369" b="458"/>
          <a:stretch/>
        </p:blipFill>
        <p:spPr>
          <a:xfrm>
            <a:off x="11506953" y="176542"/>
            <a:ext cx="543209" cy="5794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4D5F0E-02E5-B273-6C9A-E7445FE6C9EB}"/>
              </a:ext>
            </a:extLst>
          </p:cNvPr>
          <p:cNvSpPr txBox="1"/>
          <p:nvPr/>
        </p:nvSpPr>
        <p:spPr>
          <a:xfrm>
            <a:off x="11421024" y="-60183"/>
            <a:ext cx="896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Goal</a:t>
            </a:r>
          </a:p>
        </p:txBody>
      </p:sp>
    </p:spTree>
    <p:extLst>
      <p:ext uri="{BB962C8B-B14F-4D97-AF65-F5344CB8AC3E}">
        <p14:creationId xmlns:p14="http://schemas.microsoft.com/office/powerpoint/2010/main" val="26024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678"/>
          <a:stretch/>
        </p:blipFill>
        <p:spPr>
          <a:xfrm>
            <a:off x="0" y="-1"/>
            <a:ext cx="12192000" cy="331356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96000" y="0"/>
            <a:ext cx="2441418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944007" y="176542"/>
            <a:ext cx="1711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1+1+1+1 =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9763" y="1424412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1+1+1+1+1=5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04233" y="1210663"/>
            <a:ext cx="2441418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403409" y="1424411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1+1+1</a:t>
            </a:r>
          </a:p>
          <a:p>
            <a:r>
              <a:rPr lang="en-US" b="1" dirty="0">
                <a:solidFill>
                  <a:srgbClr val="00B050"/>
                </a:solidFill>
              </a:rPr>
              <a:t>=3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7295" y="1424410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1+1+1+1+1=5</a:t>
            </a:r>
          </a:p>
        </p:txBody>
      </p:sp>
      <p:sp>
        <p:nvSpPr>
          <p:cNvPr id="7" name="Rectangle 6"/>
          <p:cNvSpPr/>
          <p:nvPr/>
        </p:nvSpPr>
        <p:spPr>
          <a:xfrm>
            <a:off x="334147" y="1964601"/>
            <a:ext cx="3712752" cy="13489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9251132" y="1963611"/>
            <a:ext cx="2940868" cy="13489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276600" y="2547560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=3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93567" y="2547559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=3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5720" y="2521864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1+1+1+1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=4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9EE05F-788B-391C-716A-D951B376A3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14" t="88928" r="19369" b="458"/>
          <a:stretch/>
        </p:blipFill>
        <p:spPr>
          <a:xfrm>
            <a:off x="11506953" y="176542"/>
            <a:ext cx="543209" cy="5794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F64A09-9D46-4F67-34B4-27EAD6A6D0E5}"/>
              </a:ext>
            </a:extLst>
          </p:cNvPr>
          <p:cNvSpPr txBox="1"/>
          <p:nvPr/>
        </p:nvSpPr>
        <p:spPr>
          <a:xfrm>
            <a:off x="11421024" y="-60183"/>
            <a:ext cx="896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Goal</a:t>
            </a:r>
          </a:p>
        </p:txBody>
      </p:sp>
    </p:spTree>
    <p:extLst>
      <p:ext uri="{BB962C8B-B14F-4D97-AF65-F5344CB8AC3E}">
        <p14:creationId xmlns:p14="http://schemas.microsoft.com/office/powerpoint/2010/main" val="1735222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130"/>
          <a:stretch/>
        </p:blipFill>
        <p:spPr>
          <a:xfrm>
            <a:off x="0" y="-1"/>
            <a:ext cx="12192000" cy="321398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96000" y="0"/>
            <a:ext cx="2441418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944007" y="176542"/>
            <a:ext cx="1711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1+1+1+1 =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9763" y="1424412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1+1+1+1+1=5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04233" y="1210663"/>
            <a:ext cx="2441418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403409" y="1424411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1+1+1</a:t>
            </a:r>
          </a:p>
          <a:p>
            <a:r>
              <a:rPr lang="en-US" b="1" dirty="0">
                <a:solidFill>
                  <a:srgbClr val="00B050"/>
                </a:solidFill>
              </a:rPr>
              <a:t>=3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7295" y="1424410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1+1+1+1+1=5</a:t>
            </a:r>
          </a:p>
        </p:txBody>
      </p:sp>
      <p:sp>
        <p:nvSpPr>
          <p:cNvPr id="7" name="Rectangle 6"/>
          <p:cNvSpPr/>
          <p:nvPr/>
        </p:nvSpPr>
        <p:spPr>
          <a:xfrm>
            <a:off x="334147" y="1964601"/>
            <a:ext cx="3712752" cy="13489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9251132" y="1963611"/>
            <a:ext cx="2940868" cy="13489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2826190" y="2414989"/>
            <a:ext cx="2441418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276600" y="2547560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1+1+1</a:t>
            </a:r>
          </a:p>
          <a:p>
            <a:r>
              <a:rPr lang="en-US" b="1" dirty="0">
                <a:solidFill>
                  <a:srgbClr val="00B050"/>
                </a:solidFill>
              </a:rPr>
              <a:t>=3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93567" y="2547559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=3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5720" y="2521864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1+1+1+1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=4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3576119" y="3096285"/>
            <a:ext cx="27160" cy="869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 flipV="1">
            <a:off x="5793086" y="3129997"/>
            <a:ext cx="27160" cy="869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406932" y="3886689"/>
            <a:ext cx="860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64108" y="3886689"/>
            <a:ext cx="860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7A81E1-7668-C233-2E85-2835B0E275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14" t="88928" r="19369" b="458"/>
          <a:stretch/>
        </p:blipFill>
        <p:spPr>
          <a:xfrm>
            <a:off x="11506953" y="176542"/>
            <a:ext cx="543209" cy="5794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D41FCC-670B-5A86-119F-C602935C5971}"/>
              </a:ext>
            </a:extLst>
          </p:cNvPr>
          <p:cNvSpPr txBox="1"/>
          <p:nvPr/>
        </p:nvSpPr>
        <p:spPr>
          <a:xfrm>
            <a:off x="11421024" y="-60183"/>
            <a:ext cx="896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Goal</a:t>
            </a:r>
          </a:p>
        </p:txBody>
      </p:sp>
    </p:spTree>
    <p:extLst>
      <p:ext uri="{BB962C8B-B14F-4D97-AF65-F5344CB8AC3E}">
        <p14:creationId xmlns:p14="http://schemas.microsoft.com/office/powerpoint/2010/main" val="1909998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703"/>
          <a:stretch/>
        </p:blipFill>
        <p:spPr>
          <a:xfrm>
            <a:off x="0" y="-1"/>
            <a:ext cx="12192000" cy="440903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14" t="88928" r="19369" b="458"/>
          <a:stretch/>
        </p:blipFill>
        <p:spPr>
          <a:xfrm>
            <a:off x="11506953" y="176542"/>
            <a:ext cx="543209" cy="5794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21024" y="-60183"/>
            <a:ext cx="896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0" y="0"/>
            <a:ext cx="2441418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944007" y="176542"/>
            <a:ext cx="1711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1+1+1+1 =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9763" y="1424412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1+1+1+1+1=5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04233" y="1210663"/>
            <a:ext cx="2441418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403409" y="1424411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1+1+1</a:t>
            </a:r>
          </a:p>
          <a:p>
            <a:r>
              <a:rPr lang="en-US" b="1" dirty="0">
                <a:solidFill>
                  <a:srgbClr val="00B050"/>
                </a:solidFill>
              </a:rPr>
              <a:t>=3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7295" y="1424410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1+1+1+1+1=5</a:t>
            </a:r>
          </a:p>
        </p:txBody>
      </p:sp>
      <p:sp>
        <p:nvSpPr>
          <p:cNvPr id="7" name="Rectangle 6"/>
          <p:cNvSpPr/>
          <p:nvPr/>
        </p:nvSpPr>
        <p:spPr>
          <a:xfrm>
            <a:off x="334147" y="1964601"/>
            <a:ext cx="3712752" cy="13489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9251132" y="1963611"/>
            <a:ext cx="2940868" cy="13489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9333" y="3050972"/>
            <a:ext cx="3414557" cy="13489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2826190" y="2414989"/>
            <a:ext cx="2441418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276600" y="2547560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1+1+1</a:t>
            </a:r>
          </a:p>
          <a:p>
            <a:r>
              <a:rPr lang="en-US" b="1" dirty="0">
                <a:solidFill>
                  <a:srgbClr val="00B050"/>
                </a:solidFill>
              </a:rPr>
              <a:t>=3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93567" y="2547559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=3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5720" y="2521864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1+1+1+1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=4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42422" y="3193890"/>
            <a:ext cx="6507740" cy="12060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2708119" y="3715108"/>
            <a:ext cx="1757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=3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5292" y="3387220"/>
            <a:ext cx="1757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1+1+1+1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=4</a:t>
            </a:r>
          </a:p>
        </p:txBody>
      </p:sp>
    </p:spTree>
    <p:extLst>
      <p:ext uri="{BB962C8B-B14F-4D97-AF65-F5344CB8AC3E}">
        <p14:creationId xmlns:p14="http://schemas.microsoft.com/office/powerpoint/2010/main" val="907904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703"/>
          <a:stretch/>
        </p:blipFill>
        <p:spPr>
          <a:xfrm>
            <a:off x="0" y="-1"/>
            <a:ext cx="12192000" cy="44090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96000" y="0"/>
            <a:ext cx="2441418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944007" y="176542"/>
            <a:ext cx="1711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1+1+1+1 =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9763" y="1424412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1+1+1+1+1=5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04233" y="1210663"/>
            <a:ext cx="2441418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403409" y="1424411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1+1+1</a:t>
            </a:r>
          </a:p>
          <a:p>
            <a:r>
              <a:rPr lang="en-US" b="1" dirty="0">
                <a:solidFill>
                  <a:srgbClr val="00B050"/>
                </a:solidFill>
              </a:rPr>
              <a:t>=3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7295" y="1424410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1+1+1+1+1=5</a:t>
            </a:r>
          </a:p>
        </p:txBody>
      </p:sp>
      <p:sp>
        <p:nvSpPr>
          <p:cNvPr id="7" name="Rectangle 6"/>
          <p:cNvSpPr/>
          <p:nvPr/>
        </p:nvSpPr>
        <p:spPr>
          <a:xfrm>
            <a:off x="334147" y="1964601"/>
            <a:ext cx="3712752" cy="13489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9251132" y="1963611"/>
            <a:ext cx="2940868" cy="13489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9333" y="3050972"/>
            <a:ext cx="3414557" cy="13489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276600" y="2547560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1+1+1</a:t>
            </a: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=3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93567" y="2547559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1+1+1</a:t>
            </a:r>
          </a:p>
          <a:p>
            <a:r>
              <a:rPr lang="en-US" b="1" dirty="0">
                <a:solidFill>
                  <a:srgbClr val="00B050"/>
                </a:solidFill>
              </a:rPr>
              <a:t>=3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5720" y="2521864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1+1+1+1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=4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42422" y="3193890"/>
            <a:ext cx="6507740" cy="12060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>
            <a:off x="5428306" y="2392614"/>
            <a:ext cx="1865576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2708119" y="3715108"/>
            <a:ext cx="1757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=3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 flipH="1" flipV="1">
            <a:off x="2995377" y="4254359"/>
            <a:ext cx="27160" cy="869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826190" y="5044763"/>
            <a:ext cx="860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 flipH="1" flipV="1">
            <a:off x="5893620" y="3184791"/>
            <a:ext cx="771994" cy="852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69267" y="3958599"/>
            <a:ext cx="860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25292" y="3387220"/>
            <a:ext cx="1757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1+1+1+1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=4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3C91AD-16D3-9034-9E3E-FC97BCFF026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14" t="88928" r="19369" b="458"/>
          <a:stretch/>
        </p:blipFill>
        <p:spPr>
          <a:xfrm>
            <a:off x="11506953" y="176542"/>
            <a:ext cx="543209" cy="5794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57F008-4D07-D9A0-F0CF-ED30C197210F}"/>
              </a:ext>
            </a:extLst>
          </p:cNvPr>
          <p:cNvSpPr txBox="1"/>
          <p:nvPr/>
        </p:nvSpPr>
        <p:spPr>
          <a:xfrm>
            <a:off x="11421024" y="-60183"/>
            <a:ext cx="896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Goal</a:t>
            </a:r>
          </a:p>
        </p:txBody>
      </p:sp>
    </p:spTree>
    <p:extLst>
      <p:ext uri="{BB962C8B-B14F-4D97-AF65-F5344CB8AC3E}">
        <p14:creationId xmlns:p14="http://schemas.microsoft.com/office/powerpoint/2010/main" val="338719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703"/>
          <a:stretch/>
        </p:blipFill>
        <p:spPr>
          <a:xfrm>
            <a:off x="0" y="-1"/>
            <a:ext cx="12192000" cy="44090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96000" y="0"/>
            <a:ext cx="2441418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944007" y="176542"/>
            <a:ext cx="1711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1+1+1+1 =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9763" y="1424412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1+1+1+1+1=5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04233" y="1210663"/>
            <a:ext cx="2441418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403409" y="1424411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1+1+1</a:t>
            </a:r>
          </a:p>
          <a:p>
            <a:r>
              <a:rPr lang="en-US" b="1" dirty="0">
                <a:solidFill>
                  <a:srgbClr val="00B050"/>
                </a:solidFill>
              </a:rPr>
              <a:t>=3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7295" y="1424410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1+1+1+1+1=5</a:t>
            </a:r>
          </a:p>
        </p:txBody>
      </p:sp>
      <p:sp>
        <p:nvSpPr>
          <p:cNvPr id="7" name="Rectangle 6"/>
          <p:cNvSpPr/>
          <p:nvPr/>
        </p:nvSpPr>
        <p:spPr>
          <a:xfrm>
            <a:off x="334147" y="1964601"/>
            <a:ext cx="3712752" cy="13489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9251132" y="1963611"/>
            <a:ext cx="2940868" cy="13489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9333" y="3050972"/>
            <a:ext cx="3414557" cy="13489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276600" y="2547560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1+1+1</a:t>
            </a: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=3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93567" y="2547559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1+1+1</a:t>
            </a:r>
          </a:p>
          <a:p>
            <a:r>
              <a:rPr lang="en-US" b="1" dirty="0">
                <a:solidFill>
                  <a:srgbClr val="00B050"/>
                </a:solidFill>
              </a:rPr>
              <a:t>=3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5720" y="2521864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1+1+1+1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=4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69572" y="3193890"/>
            <a:ext cx="4280589" cy="12060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>
            <a:off x="5428306" y="2392614"/>
            <a:ext cx="1865576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5644643" y="3421693"/>
            <a:ext cx="1757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1+1=2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5292" y="3387220"/>
            <a:ext cx="1757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1+1+1+1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=4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32102" y="3851779"/>
            <a:ext cx="1757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1+1+1+1=4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8119" y="3715108"/>
            <a:ext cx="1757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=3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6FC5AE-59A1-EE02-31B2-FD309EA5A5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14" t="88928" r="19369" b="458"/>
          <a:stretch/>
        </p:blipFill>
        <p:spPr>
          <a:xfrm>
            <a:off x="11506953" y="176542"/>
            <a:ext cx="543209" cy="5794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D8D525-5104-B2D0-5046-F2FC9AB33C71}"/>
              </a:ext>
            </a:extLst>
          </p:cNvPr>
          <p:cNvSpPr txBox="1"/>
          <p:nvPr/>
        </p:nvSpPr>
        <p:spPr>
          <a:xfrm>
            <a:off x="11421024" y="-60183"/>
            <a:ext cx="896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Goal</a:t>
            </a:r>
          </a:p>
        </p:txBody>
      </p:sp>
    </p:spTree>
    <p:extLst>
      <p:ext uri="{BB962C8B-B14F-4D97-AF65-F5344CB8AC3E}">
        <p14:creationId xmlns:p14="http://schemas.microsoft.com/office/powerpoint/2010/main" val="3050143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47"/>
          <a:stretch/>
        </p:blipFill>
        <p:spPr>
          <a:xfrm>
            <a:off x="0" y="-1"/>
            <a:ext cx="12192000" cy="564031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96000" y="0"/>
            <a:ext cx="2441418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944007" y="176542"/>
            <a:ext cx="1711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1+1+1+1 =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9763" y="1424412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1+1+1+1+1=5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04233" y="1210663"/>
            <a:ext cx="2441418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403409" y="1424411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1+1+1</a:t>
            </a:r>
          </a:p>
          <a:p>
            <a:r>
              <a:rPr lang="en-US" b="1" dirty="0">
                <a:solidFill>
                  <a:srgbClr val="00B050"/>
                </a:solidFill>
              </a:rPr>
              <a:t>=3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7295" y="1424410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1+1+1+1+1=5</a:t>
            </a:r>
          </a:p>
        </p:txBody>
      </p:sp>
      <p:sp>
        <p:nvSpPr>
          <p:cNvPr id="7" name="Rectangle 6"/>
          <p:cNvSpPr/>
          <p:nvPr/>
        </p:nvSpPr>
        <p:spPr>
          <a:xfrm>
            <a:off x="334147" y="1964601"/>
            <a:ext cx="3712752" cy="13489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9251132" y="1963611"/>
            <a:ext cx="2940868" cy="13489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9333" y="3050972"/>
            <a:ext cx="3414557" cy="25893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276600" y="2547560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1+1+1</a:t>
            </a: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=3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93567" y="2547559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1+1+1</a:t>
            </a:r>
          </a:p>
          <a:p>
            <a:r>
              <a:rPr lang="en-US" b="1" dirty="0">
                <a:solidFill>
                  <a:srgbClr val="00B050"/>
                </a:solidFill>
              </a:rPr>
              <a:t>=3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5720" y="2521864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1+1+1+1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=4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69572" y="3193890"/>
            <a:ext cx="4280589" cy="12060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>
            <a:off x="5428306" y="2392614"/>
            <a:ext cx="1865576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5644643" y="3421693"/>
            <a:ext cx="1757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1+1=2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5292" y="3387220"/>
            <a:ext cx="1757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1+1+1+1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=4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32102" y="3851779"/>
            <a:ext cx="1757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1+1+1+1=4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66448" y="4414706"/>
            <a:ext cx="3429552" cy="12256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/>
          <p:cNvSpPr/>
          <p:nvPr/>
        </p:nvSpPr>
        <p:spPr>
          <a:xfrm>
            <a:off x="5536948" y="3387220"/>
            <a:ext cx="1088114" cy="112661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731330" y="4845161"/>
            <a:ext cx="3429552" cy="7951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6940336" y="4411374"/>
            <a:ext cx="5251664" cy="12188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2708119" y="3715108"/>
            <a:ext cx="1757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=3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87519" y="5076220"/>
            <a:ext cx="1757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2DE23A-9E57-5A6D-7B5D-1E988B63A52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14" t="88928" r="19369" b="458"/>
          <a:stretch/>
        </p:blipFill>
        <p:spPr>
          <a:xfrm>
            <a:off x="11506953" y="176542"/>
            <a:ext cx="543209" cy="5794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BA0008-D95D-613E-17F0-0158483B4F75}"/>
              </a:ext>
            </a:extLst>
          </p:cNvPr>
          <p:cNvSpPr txBox="1"/>
          <p:nvPr/>
        </p:nvSpPr>
        <p:spPr>
          <a:xfrm>
            <a:off x="11421024" y="-60183"/>
            <a:ext cx="896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Goal</a:t>
            </a:r>
          </a:p>
        </p:txBody>
      </p:sp>
    </p:spTree>
    <p:extLst>
      <p:ext uri="{BB962C8B-B14F-4D97-AF65-F5344CB8AC3E}">
        <p14:creationId xmlns:p14="http://schemas.microsoft.com/office/powerpoint/2010/main" val="1368646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47"/>
          <a:stretch/>
        </p:blipFill>
        <p:spPr>
          <a:xfrm>
            <a:off x="0" y="-1"/>
            <a:ext cx="12192000" cy="564031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96000" y="0"/>
            <a:ext cx="2441418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944007" y="176542"/>
            <a:ext cx="1711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1+1+1+1 =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9763" y="1424412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1+1+1+1+1=5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04233" y="1210663"/>
            <a:ext cx="2441418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403409" y="1424411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1+1+1</a:t>
            </a:r>
          </a:p>
          <a:p>
            <a:r>
              <a:rPr lang="en-US" b="1" dirty="0">
                <a:solidFill>
                  <a:srgbClr val="00B050"/>
                </a:solidFill>
              </a:rPr>
              <a:t>=3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7295" y="1424410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1+1+1+1+1=5</a:t>
            </a:r>
          </a:p>
        </p:txBody>
      </p:sp>
      <p:sp>
        <p:nvSpPr>
          <p:cNvPr id="7" name="Rectangle 6"/>
          <p:cNvSpPr/>
          <p:nvPr/>
        </p:nvSpPr>
        <p:spPr>
          <a:xfrm>
            <a:off x="334147" y="1964601"/>
            <a:ext cx="3712752" cy="13489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9251132" y="1963611"/>
            <a:ext cx="2940868" cy="13489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9333" y="3050972"/>
            <a:ext cx="3414557" cy="25893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276600" y="2547560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1+1+1</a:t>
            </a: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=3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93567" y="2547559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1+1+1</a:t>
            </a:r>
          </a:p>
          <a:p>
            <a:r>
              <a:rPr lang="en-US" b="1" dirty="0">
                <a:solidFill>
                  <a:srgbClr val="00B050"/>
                </a:solidFill>
              </a:rPr>
              <a:t>=3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5720" y="2521864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1+1+1+1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=4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69572" y="3193890"/>
            <a:ext cx="4280589" cy="12060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>
            <a:off x="5428306" y="2392614"/>
            <a:ext cx="1865576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5644643" y="3421693"/>
            <a:ext cx="1757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1+1=2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5292" y="3387220"/>
            <a:ext cx="1757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1+1+1+1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=4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32102" y="3851779"/>
            <a:ext cx="1757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1+1+1+1=4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66448" y="4414706"/>
            <a:ext cx="3429552" cy="12256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/>
          <p:cNvSpPr/>
          <p:nvPr/>
        </p:nvSpPr>
        <p:spPr>
          <a:xfrm>
            <a:off x="5536948" y="3387220"/>
            <a:ext cx="1088114" cy="112661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731330" y="4845161"/>
            <a:ext cx="3429552" cy="7951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6940336" y="4411374"/>
            <a:ext cx="5251664" cy="12188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2708119" y="3715108"/>
            <a:ext cx="1757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=3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87519" y="5076220"/>
            <a:ext cx="1757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87519" y="4845161"/>
            <a:ext cx="1181480" cy="855330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55D5B5-8CF3-AF19-A87F-2CC14BB5D54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14" t="88928" r="19369" b="458"/>
          <a:stretch/>
        </p:blipFill>
        <p:spPr>
          <a:xfrm>
            <a:off x="11506953" y="176542"/>
            <a:ext cx="543209" cy="5794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01D680F-F995-5EBD-BA0E-5CFFAEFD5514}"/>
              </a:ext>
            </a:extLst>
          </p:cNvPr>
          <p:cNvSpPr txBox="1"/>
          <p:nvPr/>
        </p:nvSpPr>
        <p:spPr>
          <a:xfrm>
            <a:off x="11421024" y="-60183"/>
            <a:ext cx="896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Goal</a:t>
            </a:r>
          </a:p>
        </p:txBody>
      </p:sp>
    </p:spTree>
    <p:extLst>
      <p:ext uri="{BB962C8B-B14F-4D97-AF65-F5344CB8AC3E}">
        <p14:creationId xmlns:p14="http://schemas.microsoft.com/office/powerpoint/2010/main" val="1842201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473"/>
          <a:stretch/>
        </p:blipFill>
        <p:spPr>
          <a:xfrm>
            <a:off x="0" y="-1"/>
            <a:ext cx="12192000" cy="688968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96000" y="0"/>
            <a:ext cx="2441418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944007" y="176542"/>
            <a:ext cx="1711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1+1+1+1 =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9763" y="1424412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1+1+1+1+1=5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04233" y="1210663"/>
            <a:ext cx="2441418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403409" y="1424411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1+1+1</a:t>
            </a:r>
          </a:p>
          <a:p>
            <a:r>
              <a:rPr lang="en-US" b="1" dirty="0">
                <a:solidFill>
                  <a:srgbClr val="00B050"/>
                </a:solidFill>
              </a:rPr>
              <a:t>=3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7295" y="1424410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1+1+1+1+1=5</a:t>
            </a:r>
          </a:p>
        </p:txBody>
      </p:sp>
      <p:sp>
        <p:nvSpPr>
          <p:cNvPr id="7" name="Rectangle 6"/>
          <p:cNvSpPr/>
          <p:nvPr/>
        </p:nvSpPr>
        <p:spPr>
          <a:xfrm>
            <a:off x="334147" y="1964601"/>
            <a:ext cx="3712752" cy="13489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9251132" y="1963611"/>
            <a:ext cx="2940868" cy="13489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9333" y="3050972"/>
            <a:ext cx="3414557" cy="25893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276600" y="2547560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1+1+1</a:t>
            </a: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=3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93567" y="2547559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1+1+1</a:t>
            </a:r>
          </a:p>
          <a:p>
            <a:r>
              <a:rPr lang="en-US" b="1" dirty="0">
                <a:solidFill>
                  <a:srgbClr val="00B050"/>
                </a:solidFill>
              </a:rPr>
              <a:t>=3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5720" y="2521864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1+1+1+1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=4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69572" y="3193890"/>
            <a:ext cx="4280589" cy="12060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>
            <a:off x="5428306" y="2392614"/>
            <a:ext cx="1865576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5644643" y="3421693"/>
            <a:ext cx="1757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1+1=2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5292" y="3387220"/>
            <a:ext cx="1757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1+1+1+1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=4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32102" y="3851779"/>
            <a:ext cx="1757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1+1+1+1=4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66448" y="4414706"/>
            <a:ext cx="3429552" cy="12256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/>
          <p:cNvSpPr/>
          <p:nvPr/>
        </p:nvSpPr>
        <p:spPr>
          <a:xfrm>
            <a:off x="5536948" y="3387220"/>
            <a:ext cx="1088114" cy="112661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731330" y="4845161"/>
            <a:ext cx="3429552" cy="7951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6940336" y="4411374"/>
            <a:ext cx="5251664" cy="12188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2708119" y="3715108"/>
            <a:ext cx="1757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1+1+1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=3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386" y="4567105"/>
            <a:ext cx="6135496" cy="23225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5787519" y="5076220"/>
            <a:ext cx="1757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46106" y="6131657"/>
            <a:ext cx="4661680" cy="7520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2278657" y="5666004"/>
            <a:ext cx="9347286" cy="11798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206108" y="5919015"/>
            <a:ext cx="4661680" cy="7520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2821189" y="5838299"/>
            <a:ext cx="4661680" cy="7520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2278656" y="5757018"/>
            <a:ext cx="4661680" cy="7520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1981488" y="5720504"/>
            <a:ext cx="4661680" cy="7520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1791542" y="5645416"/>
            <a:ext cx="4661680" cy="7520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ounded Rectangle 42"/>
          <p:cNvSpPr/>
          <p:nvPr/>
        </p:nvSpPr>
        <p:spPr>
          <a:xfrm>
            <a:off x="5787519" y="4845161"/>
            <a:ext cx="1181480" cy="855330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D6A2AA-DBA7-F29F-5748-F9E1F8BC95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14" t="88928" r="19369" b="458"/>
          <a:stretch/>
        </p:blipFill>
        <p:spPr>
          <a:xfrm>
            <a:off x="11506953" y="176542"/>
            <a:ext cx="543209" cy="5794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E0DFE2-E0A3-F220-FD9E-F5D2716BE7BF}"/>
              </a:ext>
            </a:extLst>
          </p:cNvPr>
          <p:cNvSpPr txBox="1"/>
          <p:nvPr/>
        </p:nvSpPr>
        <p:spPr>
          <a:xfrm>
            <a:off x="11421024" y="-60183"/>
            <a:ext cx="896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Goal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55FC5B7-2BDA-21E3-C5F8-9A06D12678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689" t="74837" r="30244" b="10444"/>
          <a:stretch>
            <a:fillRect/>
          </a:stretch>
        </p:blipFill>
        <p:spPr>
          <a:xfrm>
            <a:off x="4232696" y="5666003"/>
            <a:ext cx="4884898" cy="1009403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3950871" y="5824183"/>
            <a:ext cx="2543351" cy="793356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919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3E6C2C-84D0-1F71-67B6-8F9CE667D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722C3BDB-91F8-70F6-49FB-668A2E9CF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Notice that 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0394CC9-23E6-3C9A-A426-3E40A8AAF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5"/>
            <a:ext cx="8276026" cy="3320031"/>
          </a:xfrm>
        </p:spPr>
        <p:txBody>
          <a:bodyPr anchor="ctr">
            <a:normAutofit lnSpcReduction="10000"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We choose the node with the least cost from the whole tree and if there are two nodes with the same cost (least cost) we choose the older one</a:t>
            </a:r>
          </a:p>
          <a:p>
            <a:r>
              <a:rPr lang="en-US" sz="3200" dirty="0">
                <a:solidFill>
                  <a:srgbClr val="FF0000"/>
                </a:solidFill>
              </a:rPr>
              <a:t>heuristic value express how similar is the current node to the goal 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</a:rPr>
              <a:t>(The goal heuristic value = 0 )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8169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8E903D-CD7F-7ECA-7823-874F7464E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C2EE9A-CA3D-6039-CD30-555F738EB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BEST First Search</a:t>
            </a:r>
            <a:br>
              <a:rPr lang="en-US" sz="6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6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Manhattan Distance</a:t>
            </a:r>
            <a:endParaRPr lang="en-US" sz="61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997739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45DB03-AAD6-9D63-75A1-28A73D031B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62" t="18901" r="55000" b="21026"/>
          <a:stretch>
            <a:fillRect/>
          </a:stretch>
        </p:blipFill>
        <p:spPr>
          <a:xfrm>
            <a:off x="3649226" y="1567541"/>
            <a:ext cx="4893547" cy="4119825"/>
          </a:xfrm>
          <a:prstGeom prst="rect">
            <a:avLst/>
          </a:prstGeom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28B3226E-2439-900E-FDB8-E3200DC43704}"/>
              </a:ext>
            </a:extLst>
          </p:cNvPr>
          <p:cNvSpPr txBox="1">
            <a:spLocks/>
          </p:cNvSpPr>
          <p:nvPr/>
        </p:nvSpPr>
        <p:spPr>
          <a:xfrm>
            <a:off x="3820047" y="1969478"/>
            <a:ext cx="1585966" cy="3416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/>
              <a:t>start</a:t>
            </a:r>
            <a:endParaRPr lang="en-US" sz="4000" b="1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89138CA4-BD05-05D4-09BA-5E383438FC46}"/>
              </a:ext>
            </a:extLst>
          </p:cNvPr>
          <p:cNvSpPr txBox="1">
            <a:spLocks/>
          </p:cNvSpPr>
          <p:nvPr/>
        </p:nvSpPr>
        <p:spPr>
          <a:xfrm>
            <a:off x="5406013" y="3087357"/>
            <a:ext cx="1585966" cy="3416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/>
              <a:t>Goal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136641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9348CB4-25F4-E6B1-4560-1780D15B8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8764" y="1962684"/>
            <a:ext cx="2082907" cy="22543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C4C61C-6692-CECA-22D0-0017D8B04913}"/>
              </a:ext>
            </a:extLst>
          </p:cNvPr>
          <p:cNvSpPr txBox="1"/>
          <p:nvPr/>
        </p:nvSpPr>
        <p:spPr>
          <a:xfrm>
            <a:off x="5661400" y="1593352"/>
            <a:ext cx="457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6512DA-F891-06BC-521F-FBA12FCDAAA5}"/>
              </a:ext>
            </a:extLst>
          </p:cNvPr>
          <p:cNvSpPr txBox="1"/>
          <p:nvPr/>
        </p:nvSpPr>
        <p:spPr>
          <a:xfrm>
            <a:off x="4519247" y="2905201"/>
            <a:ext cx="457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0C8524-506E-04CD-FF77-0A1DDD1A2A8C}"/>
              </a:ext>
            </a:extLst>
          </p:cNvPr>
          <p:cNvSpPr txBox="1"/>
          <p:nvPr/>
        </p:nvSpPr>
        <p:spPr>
          <a:xfrm>
            <a:off x="4543530" y="3583468"/>
            <a:ext cx="457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85AB70-19FD-B0A0-8808-81259B09DF0F}"/>
              </a:ext>
            </a:extLst>
          </p:cNvPr>
          <p:cNvSpPr txBox="1"/>
          <p:nvPr/>
        </p:nvSpPr>
        <p:spPr>
          <a:xfrm>
            <a:off x="5055996" y="1593352"/>
            <a:ext cx="457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0FF1EE-315B-30B5-AF27-37174E3EE5F3}"/>
              </a:ext>
            </a:extLst>
          </p:cNvPr>
          <p:cNvSpPr txBox="1"/>
          <p:nvPr/>
        </p:nvSpPr>
        <p:spPr>
          <a:xfrm>
            <a:off x="4543530" y="2413279"/>
            <a:ext cx="457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E67FBF-1546-40CB-4368-9CA80236DF5B}"/>
              </a:ext>
            </a:extLst>
          </p:cNvPr>
          <p:cNvSpPr txBox="1"/>
          <p:nvPr/>
        </p:nvSpPr>
        <p:spPr>
          <a:xfrm>
            <a:off x="6347851" y="1593352"/>
            <a:ext cx="457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E41E50-BE95-4746-651D-B8AC65271E98}"/>
              </a:ext>
            </a:extLst>
          </p:cNvPr>
          <p:cNvSpPr txBox="1"/>
          <p:nvPr/>
        </p:nvSpPr>
        <p:spPr>
          <a:xfrm>
            <a:off x="2946917" y="5264648"/>
            <a:ext cx="77171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calculate the Manhattan distance for each number </a:t>
            </a:r>
          </a:p>
          <a:p>
            <a:r>
              <a:rPr lang="en-US" dirty="0">
                <a:solidFill>
                  <a:srgbClr val="FF0000"/>
                </a:solidFill>
              </a:rPr>
              <a:t>For example (8)</a:t>
            </a:r>
          </a:p>
          <a:p>
            <a:r>
              <a:rPr lang="en-US" dirty="0"/>
              <a:t>Current coordinates (1,2) and the goal to be at (2,1) </a:t>
            </a:r>
          </a:p>
          <a:p>
            <a:r>
              <a:rPr lang="en-US" dirty="0"/>
              <a:t>Manhattan distance = |2-1| + |1-2| = 2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F14C34-51C8-FEEF-6460-D3FAB44958F2}"/>
              </a:ext>
            </a:extLst>
          </p:cNvPr>
          <p:cNvSpPr txBox="1"/>
          <p:nvPr/>
        </p:nvSpPr>
        <p:spPr>
          <a:xfrm>
            <a:off x="8703248" y="5264647"/>
            <a:ext cx="33859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But for this problem for simplification, we calculate how many steps till it be in the write position</a:t>
            </a:r>
          </a:p>
        </p:txBody>
      </p:sp>
    </p:spTree>
    <p:extLst>
      <p:ext uri="{BB962C8B-B14F-4D97-AF65-F5344CB8AC3E}">
        <p14:creationId xmlns:p14="http://schemas.microsoft.com/office/powerpoint/2010/main" val="36657435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FC60D1-9FF1-EA88-E315-7F77221DC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467" y="1028188"/>
            <a:ext cx="2082907" cy="22543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A264D8-D0C8-1D57-6C7C-12B2AC74ECFD}"/>
              </a:ext>
            </a:extLst>
          </p:cNvPr>
          <p:cNvSpPr txBox="1"/>
          <p:nvPr/>
        </p:nvSpPr>
        <p:spPr>
          <a:xfrm>
            <a:off x="2386974" y="3315211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Initial State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054ECE-3448-1078-3EB0-4343AD0E0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955" y="1028188"/>
            <a:ext cx="1917732" cy="21525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27E758-5C1D-97EE-90D2-E14FBA79E5E4}"/>
              </a:ext>
            </a:extLst>
          </p:cNvPr>
          <p:cNvSpPr txBox="1"/>
          <p:nvPr/>
        </p:nvSpPr>
        <p:spPr>
          <a:xfrm>
            <a:off x="489857" y="304800"/>
            <a:ext cx="79464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First, Calculate Heuristic using Manhattan Distance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40EC0C-EF1E-23BC-A4CD-DEA6FEFA58A4}"/>
              </a:ext>
            </a:extLst>
          </p:cNvPr>
          <p:cNvSpPr txBox="1"/>
          <p:nvPr/>
        </p:nvSpPr>
        <p:spPr>
          <a:xfrm>
            <a:off x="7872823" y="3743051"/>
            <a:ext cx="338599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H(n) =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D1E930-72AF-9219-AE18-77BF54E8DA83}"/>
              </a:ext>
            </a:extLst>
          </p:cNvPr>
          <p:cNvSpPr txBox="1"/>
          <p:nvPr/>
        </p:nvSpPr>
        <p:spPr>
          <a:xfrm>
            <a:off x="383721" y="3743051"/>
            <a:ext cx="6648449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1 needs 1 movement to be in it’s correct position</a:t>
            </a:r>
          </a:p>
          <a:p>
            <a:r>
              <a:rPr lang="en-US" dirty="0"/>
              <a:t>2 needs 1 movement to be in it’s correct position</a:t>
            </a:r>
          </a:p>
          <a:p>
            <a:r>
              <a:rPr lang="en-US" dirty="0"/>
              <a:t>3 is in it’s correct position</a:t>
            </a:r>
          </a:p>
          <a:p>
            <a:r>
              <a:rPr lang="en-US" dirty="0"/>
              <a:t>4 is in it’s correct position</a:t>
            </a:r>
          </a:p>
          <a:p>
            <a:r>
              <a:rPr lang="en-US" dirty="0"/>
              <a:t>5 is in it’s correct position</a:t>
            </a:r>
          </a:p>
          <a:p>
            <a:r>
              <a:rPr lang="en-US" dirty="0"/>
              <a:t>6 needs 1 movement to be in it’s correct position </a:t>
            </a:r>
          </a:p>
          <a:p>
            <a:r>
              <a:rPr lang="en-US" dirty="0"/>
              <a:t>7 is in it’s correct position</a:t>
            </a:r>
          </a:p>
          <a:p>
            <a:r>
              <a:rPr lang="en-US" dirty="0"/>
              <a:t>8 needs 2 movements to be in it’s correct position</a:t>
            </a:r>
          </a:p>
          <a:p>
            <a:r>
              <a:rPr lang="en-US" dirty="0"/>
              <a:t>So, The Heuristics is = 1+1+1+2 = 5</a:t>
            </a:r>
          </a:p>
        </p:txBody>
      </p:sp>
    </p:spTree>
    <p:extLst>
      <p:ext uri="{BB962C8B-B14F-4D97-AF65-F5344CB8AC3E}">
        <p14:creationId xmlns:p14="http://schemas.microsoft.com/office/powerpoint/2010/main" val="38084781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86138"/>
          <a:stretch/>
        </p:blipFill>
        <p:spPr>
          <a:xfrm>
            <a:off x="0" y="-1"/>
            <a:ext cx="12192000" cy="9506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4007" y="113171"/>
            <a:ext cx="1711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1+1+1+1+2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 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69C568-79E8-1D15-9ADD-DDA3E8449E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14" t="88928" r="19369" b="458"/>
          <a:stretch/>
        </p:blipFill>
        <p:spPr>
          <a:xfrm>
            <a:off x="11506953" y="176542"/>
            <a:ext cx="543209" cy="5794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DC718B-8FCC-B93A-9E61-999362D4DC5A}"/>
              </a:ext>
            </a:extLst>
          </p:cNvPr>
          <p:cNvSpPr txBox="1"/>
          <p:nvPr/>
        </p:nvSpPr>
        <p:spPr>
          <a:xfrm>
            <a:off x="11421024" y="-60183"/>
            <a:ext cx="896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Goal</a:t>
            </a:r>
          </a:p>
        </p:txBody>
      </p:sp>
    </p:spTree>
    <p:extLst>
      <p:ext uri="{BB962C8B-B14F-4D97-AF65-F5344CB8AC3E}">
        <p14:creationId xmlns:p14="http://schemas.microsoft.com/office/powerpoint/2010/main" val="15735730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68578"/>
          <a:stretch/>
        </p:blipFill>
        <p:spPr>
          <a:xfrm>
            <a:off x="0" y="-1"/>
            <a:ext cx="12192000" cy="21547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14" t="88928" r="19369" b="458"/>
          <a:stretch/>
        </p:blipFill>
        <p:spPr>
          <a:xfrm>
            <a:off x="11506953" y="176542"/>
            <a:ext cx="543209" cy="5794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21024" y="-60183"/>
            <a:ext cx="896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Goal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0" y="0"/>
            <a:ext cx="2441418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44007" y="176542"/>
            <a:ext cx="1711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1+1+1+1+2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 5</a:t>
            </a:r>
          </a:p>
        </p:txBody>
      </p:sp>
    </p:spTree>
    <p:extLst>
      <p:ext uri="{BB962C8B-B14F-4D97-AF65-F5344CB8AC3E}">
        <p14:creationId xmlns:p14="http://schemas.microsoft.com/office/powerpoint/2010/main" val="14133888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68578"/>
          <a:stretch/>
        </p:blipFill>
        <p:spPr>
          <a:xfrm>
            <a:off x="0" y="-1"/>
            <a:ext cx="12192000" cy="215472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96000" y="0"/>
            <a:ext cx="2441418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44007" y="176542"/>
            <a:ext cx="1711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1+1+1+1+2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9763" y="1424412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1+1+1+1+2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3409" y="1424411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1+1+2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7295" y="1424410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1+1+1+1+2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DCC9EF-9B38-74B4-FDBF-E362DCB0327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14" t="88928" r="19369" b="458"/>
          <a:stretch/>
        </p:blipFill>
        <p:spPr>
          <a:xfrm>
            <a:off x="11506953" y="176542"/>
            <a:ext cx="543209" cy="5794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8D98BB-765E-C412-A59D-11A946AB47F5}"/>
              </a:ext>
            </a:extLst>
          </p:cNvPr>
          <p:cNvSpPr txBox="1"/>
          <p:nvPr/>
        </p:nvSpPr>
        <p:spPr>
          <a:xfrm>
            <a:off x="11421024" y="-60183"/>
            <a:ext cx="896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Goal</a:t>
            </a:r>
          </a:p>
        </p:txBody>
      </p:sp>
    </p:spTree>
    <p:extLst>
      <p:ext uri="{BB962C8B-B14F-4D97-AF65-F5344CB8AC3E}">
        <p14:creationId xmlns:p14="http://schemas.microsoft.com/office/powerpoint/2010/main" val="38969594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678"/>
          <a:stretch/>
        </p:blipFill>
        <p:spPr>
          <a:xfrm>
            <a:off x="0" y="-1"/>
            <a:ext cx="12192000" cy="331356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96000" y="0"/>
            <a:ext cx="2441418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204233" y="1210663"/>
            <a:ext cx="2441418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03409" y="1424411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1+1+2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=4</a:t>
            </a:r>
          </a:p>
        </p:txBody>
      </p:sp>
      <p:sp>
        <p:nvSpPr>
          <p:cNvPr id="7" name="Rectangle 6"/>
          <p:cNvSpPr/>
          <p:nvPr/>
        </p:nvSpPr>
        <p:spPr>
          <a:xfrm>
            <a:off x="334147" y="1964601"/>
            <a:ext cx="3712752" cy="13489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251132" y="1963611"/>
            <a:ext cx="2940868" cy="13489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76600" y="2547560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2+1+2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93567" y="2547559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1+1+1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5720" y="2521864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1+1+1+2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4007" y="176542"/>
            <a:ext cx="1711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1+1+1+1+2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9763" y="1424412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1+1+1+1+2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7295" y="1424410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1+1+1+1+2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C2CB41-0D94-2FC9-86DA-46BBAEF8ED9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14" t="88928" r="19369" b="458"/>
          <a:stretch/>
        </p:blipFill>
        <p:spPr>
          <a:xfrm>
            <a:off x="11506953" y="176542"/>
            <a:ext cx="543209" cy="5794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BC27DC0-6259-1A70-5A20-AFA6ED76C516}"/>
              </a:ext>
            </a:extLst>
          </p:cNvPr>
          <p:cNvSpPr txBox="1"/>
          <p:nvPr/>
        </p:nvSpPr>
        <p:spPr>
          <a:xfrm>
            <a:off x="11421024" y="-60183"/>
            <a:ext cx="896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Goal</a:t>
            </a:r>
          </a:p>
        </p:txBody>
      </p:sp>
    </p:spTree>
    <p:extLst>
      <p:ext uri="{BB962C8B-B14F-4D97-AF65-F5344CB8AC3E}">
        <p14:creationId xmlns:p14="http://schemas.microsoft.com/office/powerpoint/2010/main" val="9837111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09DFC-D341-EAA5-2374-6EC4FDABE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A9A95EF-EF80-DDB2-A046-A91C09CCA2B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703"/>
          <a:stretch/>
        </p:blipFill>
        <p:spPr>
          <a:xfrm>
            <a:off x="0" y="-1"/>
            <a:ext cx="12192000" cy="4409039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CE50C79-926F-6599-EFC4-FD419EEC9000}"/>
              </a:ext>
            </a:extLst>
          </p:cNvPr>
          <p:cNvSpPr/>
          <p:nvPr/>
        </p:nvSpPr>
        <p:spPr>
          <a:xfrm>
            <a:off x="6096000" y="0"/>
            <a:ext cx="2441418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64D6EF8-2E63-ACC4-D49F-1997F9043329}"/>
              </a:ext>
            </a:extLst>
          </p:cNvPr>
          <p:cNvSpPr/>
          <p:nvPr/>
        </p:nvSpPr>
        <p:spPr>
          <a:xfrm>
            <a:off x="5204233" y="1210663"/>
            <a:ext cx="2441418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EA42D-0A46-B892-6EA1-C4CEADCEA882}"/>
              </a:ext>
            </a:extLst>
          </p:cNvPr>
          <p:cNvSpPr/>
          <p:nvPr/>
        </p:nvSpPr>
        <p:spPr>
          <a:xfrm>
            <a:off x="334147" y="1964601"/>
            <a:ext cx="3712752" cy="13489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2574FE-424B-3658-E514-CCC91C110A9A}"/>
              </a:ext>
            </a:extLst>
          </p:cNvPr>
          <p:cNvSpPr/>
          <p:nvPr/>
        </p:nvSpPr>
        <p:spPr>
          <a:xfrm>
            <a:off x="9251132" y="1963611"/>
            <a:ext cx="2940868" cy="13489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AF8B8C-E773-CCE5-A6FD-E655B4E11636}"/>
              </a:ext>
            </a:extLst>
          </p:cNvPr>
          <p:cNvSpPr/>
          <p:nvPr/>
        </p:nvSpPr>
        <p:spPr>
          <a:xfrm>
            <a:off x="59333" y="3193891"/>
            <a:ext cx="5344076" cy="12060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7ACEF5-2218-36B2-C62D-C468973E8F24}"/>
              </a:ext>
            </a:extLst>
          </p:cNvPr>
          <p:cNvSpPr/>
          <p:nvPr/>
        </p:nvSpPr>
        <p:spPr>
          <a:xfrm>
            <a:off x="7769572" y="3193890"/>
            <a:ext cx="4280589" cy="12060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7D849A-4CE5-80ED-AE2F-9E0F2E2B30A8}"/>
              </a:ext>
            </a:extLst>
          </p:cNvPr>
          <p:cNvSpPr txBox="1"/>
          <p:nvPr/>
        </p:nvSpPr>
        <p:spPr>
          <a:xfrm>
            <a:off x="5403409" y="1424411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1+1+2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160D2E-A3E6-4A3F-51C5-F566B34E0287}"/>
              </a:ext>
            </a:extLst>
          </p:cNvPr>
          <p:cNvSpPr txBox="1"/>
          <p:nvPr/>
        </p:nvSpPr>
        <p:spPr>
          <a:xfrm>
            <a:off x="3276600" y="2547560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2+1+2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B315C88-3F54-5624-90FF-3919F64C8A0D}"/>
              </a:ext>
            </a:extLst>
          </p:cNvPr>
          <p:cNvSpPr txBox="1"/>
          <p:nvPr/>
        </p:nvSpPr>
        <p:spPr>
          <a:xfrm>
            <a:off x="7435720" y="2521864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1+1+1+2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7B3141-0A98-EE0A-0CDF-B8B247620250}"/>
              </a:ext>
            </a:extLst>
          </p:cNvPr>
          <p:cNvSpPr txBox="1"/>
          <p:nvPr/>
        </p:nvSpPr>
        <p:spPr>
          <a:xfrm>
            <a:off x="6944007" y="176542"/>
            <a:ext cx="1711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1+1+1+1+2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 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DA07DEE-2B86-D48F-F1FE-78DBA7FFC24C}"/>
              </a:ext>
            </a:extLst>
          </p:cNvPr>
          <p:cNvSpPr txBox="1"/>
          <p:nvPr/>
        </p:nvSpPr>
        <p:spPr>
          <a:xfrm>
            <a:off x="1229763" y="1424412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1+1+1+1+2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1091AD7-DF54-597C-305A-8CE0705D5631}"/>
              </a:ext>
            </a:extLst>
          </p:cNvPr>
          <p:cNvSpPr txBox="1"/>
          <p:nvPr/>
        </p:nvSpPr>
        <p:spPr>
          <a:xfrm>
            <a:off x="8347295" y="1424410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1+1+1+1+2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=6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CA5A18FC-D35D-2077-B75D-0FD3BB8CCC16}"/>
              </a:ext>
            </a:extLst>
          </p:cNvPr>
          <p:cNvSpPr/>
          <p:nvPr/>
        </p:nvSpPr>
        <p:spPr>
          <a:xfrm>
            <a:off x="5339409" y="2440686"/>
            <a:ext cx="1865128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A346953-CE25-5A79-ED15-6CC3FDF1E844}"/>
              </a:ext>
            </a:extLst>
          </p:cNvPr>
          <p:cNvSpPr txBox="1"/>
          <p:nvPr/>
        </p:nvSpPr>
        <p:spPr>
          <a:xfrm>
            <a:off x="5493567" y="2547559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1+1+1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0768F0-62B3-EB55-8C19-E6DE00D8FD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14" t="88928" r="19369" b="458"/>
          <a:stretch/>
        </p:blipFill>
        <p:spPr>
          <a:xfrm>
            <a:off x="11506953" y="176542"/>
            <a:ext cx="543209" cy="5794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A94CBC1-4A81-CFCC-888C-A5682C7D204E}"/>
              </a:ext>
            </a:extLst>
          </p:cNvPr>
          <p:cNvSpPr txBox="1"/>
          <p:nvPr/>
        </p:nvSpPr>
        <p:spPr>
          <a:xfrm>
            <a:off x="11421024" y="-60183"/>
            <a:ext cx="896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Goal</a:t>
            </a:r>
          </a:p>
        </p:txBody>
      </p:sp>
    </p:spTree>
    <p:extLst>
      <p:ext uri="{BB962C8B-B14F-4D97-AF65-F5344CB8AC3E}">
        <p14:creationId xmlns:p14="http://schemas.microsoft.com/office/powerpoint/2010/main" val="30674901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703"/>
          <a:stretch/>
        </p:blipFill>
        <p:spPr>
          <a:xfrm>
            <a:off x="0" y="-1"/>
            <a:ext cx="12192000" cy="44090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96000" y="0"/>
            <a:ext cx="2441418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204233" y="1210663"/>
            <a:ext cx="2441418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4147" y="1964601"/>
            <a:ext cx="3712752" cy="13489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251132" y="1963611"/>
            <a:ext cx="2940868" cy="13489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9333" y="3193891"/>
            <a:ext cx="5344076" cy="12060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769572" y="3193890"/>
            <a:ext cx="4280589" cy="12060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03409" y="1424411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1+1+2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76600" y="2547560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2+1+2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35720" y="2521864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1+1+1+2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4007" y="176542"/>
            <a:ext cx="1711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1+1+1+1+2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29763" y="1424412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1+1+1+1+2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7295" y="1424410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1+1+1+1+2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39409" y="2440686"/>
            <a:ext cx="1865128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493567" y="2547559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1+1+1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44643" y="3421693"/>
            <a:ext cx="1757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1+1=2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32102" y="3851779"/>
            <a:ext cx="1757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1+1+1+1=4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BCE70D-F23C-B97D-A0DB-CF8B09DA17B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14" t="88928" r="19369" b="458"/>
          <a:stretch/>
        </p:blipFill>
        <p:spPr>
          <a:xfrm>
            <a:off x="11506953" y="176542"/>
            <a:ext cx="543209" cy="5794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4D7238-C2A5-84C6-9238-7844BFAA3EB2}"/>
              </a:ext>
            </a:extLst>
          </p:cNvPr>
          <p:cNvSpPr txBox="1"/>
          <p:nvPr/>
        </p:nvSpPr>
        <p:spPr>
          <a:xfrm>
            <a:off x="11421024" y="-60183"/>
            <a:ext cx="896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Goal</a:t>
            </a:r>
          </a:p>
        </p:txBody>
      </p:sp>
    </p:spTree>
    <p:extLst>
      <p:ext uri="{BB962C8B-B14F-4D97-AF65-F5344CB8AC3E}">
        <p14:creationId xmlns:p14="http://schemas.microsoft.com/office/powerpoint/2010/main" val="38358700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47"/>
          <a:stretch/>
        </p:blipFill>
        <p:spPr>
          <a:xfrm>
            <a:off x="0" y="-1"/>
            <a:ext cx="12192000" cy="564031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96000" y="0"/>
            <a:ext cx="2441418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204233" y="1210663"/>
            <a:ext cx="2441418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4147" y="1964601"/>
            <a:ext cx="3712752" cy="13489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251132" y="1963611"/>
            <a:ext cx="2940868" cy="13489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9333" y="3193889"/>
            <a:ext cx="5368973" cy="24464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769572" y="3193890"/>
            <a:ext cx="4280589" cy="12060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532102" y="3851779"/>
            <a:ext cx="1757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1+1+1+1=4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66448" y="4414706"/>
            <a:ext cx="3429552" cy="12256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731330" y="4845161"/>
            <a:ext cx="3429552" cy="7951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940336" y="4411374"/>
            <a:ext cx="5251664" cy="12188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787519" y="5076220"/>
            <a:ext cx="1757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03409" y="1424411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1+1+2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76600" y="2547560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2+1+2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35720" y="2521864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1+1+1+2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4007" y="176542"/>
            <a:ext cx="1711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1+1+1+1+2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29763" y="1424412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1+1+1+1+2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7295" y="1424410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1+1+1+1+2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39409" y="2440686"/>
            <a:ext cx="1865128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493567" y="2547559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1+1+1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4698" y="3488463"/>
            <a:ext cx="1209454" cy="1041590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644643" y="3421693"/>
            <a:ext cx="1757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1+1=2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9D8F7D-9038-CE43-2DF3-09D733CC6B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14" t="88928" r="19369" b="458"/>
          <a:stretch/>
        </p:blipFill>
        <p:spPr>
          <a:xfrm>
            <a:off x="11506953" y="176542"/>
            <a:ext cx="543209" cy="5794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92F9EB-8F9B-4BD7-C39E-CF481BBC1084}"/>
              </a:ext>
            </a:extLst>
          </p:cNvPr>
          <p:cNvSpPr txBox="1"/>
          <p:nvPr/>
        </p:nvSpPr>
        <p:spPr>
          <a:xfrm>
            <a:off x="11421024" y="-60183"/>
            <a:ext cx="896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Goal</a:t>
            </a:r>
          </a:p>
        </p:txBody>
      </p:sp>
    </p:spTree>
    <p:extLst>
      <p:ext uri="{BB962C8B-B14F-4D97-AF65-F5344CB8AC3E}">
        <p14:creationId xmlns:p14="http://schemas.microsoft.com/office/powerpoint/2010/main" val="27019080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55"/>
          <a:stretch/>
        </p:blipFill>
        <p:spPr>
          <a:xfrm>
            <a:off x="0" y="-1"/>
            <a:ext cx="12192000" cy="685347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96000" y="0"/>
            <a:ext cx="2441418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204233" y="1210663"/>
            <a:ext cx="2441418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4147" y="1964601"/>
            <a:ext cx="3712752" cy="13489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251132" y="1963611"/>
            <a:ext cx="2940868" cy="13489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9333" y="3193890"/>
            <a:ext cx="5368973" cy="36595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769572" y="3193890"/>
            <a:ext cx="4280589" cy="12060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666448" y="4414706"/>
            <a:ext cx="3429552" cy="12256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731330" y="4845161"/>
            <a:ext cx="3429552" cy="7951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940336" y="4411374"/>
            <a:ext cx="5251664" cy="12188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787519" y="5076220"/>
            <a:ext cx="1757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87519" y="4845161"/>
            <a:ext cx="1181480" cy="855330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532102" y="3851779"/>
            <a:ext cx="1757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1+1+1+1=4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03409" y="1424411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1+1+2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76600" y="2547560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2+1+2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35720" y="2521864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1+1+1+2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4007" y="176542"/>
            <a:ext cx="1711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1+1+1+1+2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 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9763" y="1424412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1+1+1+1+2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47295" y="1424410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1+1+1+1+2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FA3EE">
                    <a:lumMod val="5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93567" y="2547559"/>
            <a:ext cx="1540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1+1+1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60634" y="3479990"/>
            <a:ext cx="1209454" cy="1041590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5339409" y="2440686"/>
            <a:ext cx="1865128" cy="860079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644643" y="3421693"/>
            <a:ext cx="1757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1+1=2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31330" y="4845161"/>
            <a:ext cx="3429552" cy="7951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787519" y="5076220"/>
            <a:ext cx="1757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46106" y="6131657"/>
            <a:ext cx="4661680" cy="7520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3842868" y="6012263"/>
            <a:ext cx="4661680" cy="7520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731329" y="5620376"/>
            <a:ext cx="9318831" cy="12032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2821189" y="5838299"/>
            <a:ext cx="4661680" cy="7520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2278656" y="5757018"/>
            <a:ext cx="4661680" cy="7520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981488" y="5720504"/>
            <a:ext cx="4661680" cy="7520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791542" y="5645416"/>
            <a:ext cx="4661680" cy="7520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84661C-B95E-C5BF-9404-D9341C1EBA9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14" t="88928" r="19369" b="458"/>
          <a:stretch/>
        </p:blipFill>
        <p:spPr>
          <a:xfrm>
            <a:off x="11506953" y="176542"/>
            <a:ext cx="543209" cy="5794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C40211-B6F3-EAFD-9E81-A536BA5A1D60}"/>
              </a:ext>
            </a:extLst>
          </p:cNvPr>
          <p:cNvSpPr txBox="1"/>
          <p:nvPr/>
        </p:nvSpPr>
        <p:spPr>
          <a:xfrm>
            <a:off x="11421024" y="-60183"/>
            <a:ext cx="896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Goal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4B54A2-FCD3-957F-60A1-0C7EEC30C6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689" t="74837" r="30244" b="10444"/>
          <a:stretch>
            <a:fillRect/>
          </a:stretch>
        </p:blipFill>
        <p:spPr>
          <a:xfrm>
            <a:off x="4232696" y="5666003"/>
            <a:ext cx="4884898" cy="1009403"/>
          </a:xfrm>
          <a:prstGeom prst="rect">
            <a:avLst/>
          </a:prstGeom>
        </p:spPr>
      </p:pic>
      <p:sp>
        <p:nvSpPr>
          <p:cNvPr id="8" name="Rounded Rectangle 43">
            <a:extLst>
              <a:ext uri="{FF2B5EF4-FFF2-40B4-BE49-F238E27FC236}">
                <a16:creationId xmlns:a16="http://schemas.microsoft.com/office/drawing/2014/main" id="{2D4797D7-9D31-E12C-FE40-FF7B0A1D65CC}"/>
              </a:ext>
            </a:extLst>
          </p:cNvPr>
          <p:cNvSpPr/>
          <p:nvPr/>
        </p:nvSpPr>
        <p:spPr>
          <a:xfrm>
            <a:off x="3950871" y="5824183"/>
            <a:ext cx="2543351" cy="793356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ounded Rectangle 55"/>
          <p:cNvSpPr/>
          <p:nvPr/>
        </p:nvSpPr>
        <p:spPr>
          <a:xfrm>
            <a:off x="5787519" y="4845161"/>
            <a:ext cx="1181480" cy="855330"/>
          </a:xfrm>
          <a:prstGeom prst="roundRect">
            <a:avLst/>
          </a:prstGeom>
          <a:solidFill>
            <a:srgbClr val="F7EBD9">
              <a:alpha val="10196"/>
            </a:srgbClr>
          </a:solidFill>
          <a:ln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92833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D4415C-E205-9BEA-F8BC-F206C6F28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189" y="1180122"/>
            <a:ext cx="7875056" cy="48548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4FCBAF-94A0-24DA-8FF8-140FE1A60CAD}"/>
              </a:ext>
            </a:extLst>
          </p:cNvPr>
          <p:cNvSpPr txBox="1"/>
          <p:nvPr/>
        </p:nvSpPr>
        <p:spPr>
          <a:xfrm>
            <a:off x="304800" y="359229"/>
            <a:ext cx="101890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Best First: From Arad/Bucharest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8865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FBDDD1-FF75-DC02-C9D8-43023DC70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C98BA8E-AF54-ABBD-AE00-AD48E403E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3C9116-3B38-D847-4C09-424DE075B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88784"/>
          </a:xfrm>
        </p:spPr>
        <p:txBody>
          <a:bodyPr>
            <a:normAutofit/>
          </a:bodyPr>
          <a:lstStyle/>
          <a:p>
            <a:r>
              <a:rPr lang="en-US" sz="2800" dirty="0"/>
              <a:t>1. Given the </a:t>
            </a:r>
            <a:r>
              <a:rPr lang="en-US" sz="2800" b="1" dirty="0"/>
              <a:t>Arad/Bucharest </a:t>
            </a:r>
            <a:r>
              <a:rPr lang="en-US" sz="2800" dirty="0"/>
              <a:t>route finding problem and the heuristics table below, show the list n of visited nodes using the following search techniques: </a:t>
            </a:r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78683102-81BC-A669-D7D5-407A3E4A0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8730" y="1825625"/>
            <a:ext cx="3800856" cy="4303464"/>
          </a:xfrm>
        </p:spPr>
        <p:txBody>
          <a:bodyPr>
            <a:normAutofit/>
          </a:bodyPr>
          <a:lstStyle/>
          <a:p>
            <a:r>
              <a:rPr lang="en-US" sz="2000" dirty="0"/>
              <a:t>Best First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8784D5-88F2-C277-D073-10F65E4A9A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621"/>
          <a:stretch/>
        </p:blipFill>
        <p:spPr>
          <a:xfrm>
            <a:off x="-144266" y="1825625"/>
            <a:ext cx="8232996" cy="503237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EF53F3F4-AAA6-DDF0-B58A-B9EB05DAC39C}"/>
              </a:ext>
            </a:extLst>
          </p:cNvPr>
          <p:cNvSpPr/>
          <p:nvPr/>
        </p:nvSpPr>
        <p:spPr>
          <a:xfrm>
            <a:off x="2517058" y="3465871"/>
            <a:ext cx="157316" cy="17698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066CAD2-5278-965C-A004-5CA3943B3185}"/>
              </a:ext>
            </a:extLst>
          </p:cNvPr>
          <p:cNvSpPr/>
          <p:nvPr/>
        </p:nvSpPr>
        <p:spPr>
          <a:xfrm>
            <a:off x="5589638" y="4876800"/>
            <a:ext cx="157316" cy="17698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7607720-8384-01BD-EA96-EA604C58814F}"/>
              </a:ext>
            </a:extLst>
          </p:cNvPr>
          <p:cNvSpPr/>
          <p:nvPr/>
        </p:nvSpPr>
        <p:spPr>
          <a:xfrm>
            <a:off x="9906000" y="2215691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43A4448-01CC-3470-1E1A-C165CB12F701}"/>
              </a:ext>
            </a:extLst>
          </p:cNvPr>
          <p:cNvSpPr/>
          <p:nvPr/>
        </p:nvSpPr>
        <p:spPr>
          <a:xfrm>
            <a:off x="11036798" y="3333134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Z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914DE16-F12A-872D-0B34-BC9E9C0EB7EB}"/>
              </a:ext>
            </a:extLst>
          </p:cNvPr>
          <p:cNvSpPr/>
          <p:nvPr/>
        </p:nvSpPr>
        <p:spPr>
          <a:xfrm>
            <a:off x="9906000" y="3353009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64B9DAE-C5F1-520A-E010-C8E9DB293569}"/>
              </a:ext>
            </a:extLst>
          </p:cNvPr>
          <p:cNvSpPr/>
          <p:nvPr/>
        </p:nvSpPr>
        <p:spPr>
          <a:xfrm>
            <a:off x="8695022" y="3333135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</a:t>
            </a: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7C560FFE-6A82-C4BE-2DF0-80210728FF76}"/>
              </a:ext>
            </a:extLst>
          </p:cNvPr>
          <p:cNvCxnSpPr>
            <a:stCxn id="8" idx="3"/>
            <a:endCxn id="11" idx="0"/>
          </p:cNvCxnSpPr>
          <p:nvPr/>
        </p:nvCxnSpPr>
        <p:spPr>
          <a:xfrm rot="5400000">
            <a:off x="9228610" y="2554951"/>
            <a:ext cx="588725" cy="96764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A7170A0E-7884-DECA-8740-B038F0D13491}"/>
              </a:ext>
            </a:extLst>
          </p:cNvPr>
          <p:cNvCxnSpPr>
            <a:cxnSpLocks/>
            <a:stCxn id="8" idx="4"/>
            <a:endCxn id="10" idx="0"/>
          </p:cNvCxnSpPr>
          <p:nvPr/>
        </p:nvCxnSpPr>
        <p:spPr>
          <a:xfrm rot="5400000">
            <a:off x="9991187" y="3094066"/>
            <a:ext cx="517885" cy="1270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B91A9125-0DE1-0946-4CD7-5D4610424343}"/>
              </a:ext>
            </a:extLst>
          </p:cNvPr>
          <p:cNvCxnSpPr>
            <a:cxnSpLocks/>
            <a:stCxn id="8" idx="5"/>
            <a:endCxn id="9" idx="0"/>
          </p:cNvCxnSpPr>
          <p:nvPr/>
        </p:nvCxnSpPr>
        <p:spPr>
          <a:xfrm rot="16200000" flipH="1">
            <a:off x="10642834" y="2595041"/>
            <a:ext cx="588724" cy="88746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D9F183E-1015-2AC8-F615-EEEC9496A17A}"/>
              </a:ext>
            </a:extLst>
          </p:cNvPr>
          <p:cNvSpPr txBox="1"/>
          <p:nvPr/>
        </p:nvSpPr>
        <p:spPr>
          <a:xfrm>
            <a:off x="8088854" y="3045111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CB90E3-CB7A-FC85-841B-2168EB7B29F1}"/>
              </a:ext>
            </a:extLst>
          </p:cNvPr>
          <p:cNvSpPr txBox="1"/>
          <p:nvPr/>
        </p:nvSpPr>
        <p:spPr>
          <a:xfrm>
            <a:off x="10236344" y="3084508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329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AE6836-EE0B-E2B8-30DB-716805CEA84B}"/>
              </a:ext>
            </a:extLst>
          </p:cNvPr>
          <p:cNvSpPr txBox="1"/>
          <p:nvPr/>
        </p:nvSpPr>
        <p:spPr>
          <a:xfrm>
            <a:off x="11793001" y="3058714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374</a:t>
            </a:r>
          </a:p>
        </p:txBody>
      </p:sp>
    </p:spTree>
    <p:extLst>
      <p:ext uri="{BB962C8B-B14F-4D97-AF65-F5344CB8AC3E}">
        <p14:creationId xmlns:p14="http://schemas.microsoft.com/office/powerpoint/2010/main" val="29138016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A30E8A-9C2A-036C-20FA-FD23F1478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189C64E-6867-180A-7634-0A40F2F34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2FFD03-88D5-DC59-3BFA-AE48210EE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88784"/>
          </a:xfrm>
        </p:spPr>
        <p:txBody>
          <a:bodyPr>
            <a:normAutofit/>
          </a:bodyPr>
          <a:lstStyle/>
          <a:p>
            <a:r>
              <a:rPr lang="en-US" sz="2800" dirty="0"/>
              <a:t>1. Given the </a:t>
            </a:r>
            <a:r>
              <a:rPr lang="en-US" sz="2800" b="1" dirty="0"/>
              <a:t>Arad/Bucharest </a:t>
            </a:r>
            <a:r>
              <a:rPr lang="en-US" sz="2800" dirty="0"/>
              <a:t>route finding problem and the heuristics table below, show the list n of visited nodes using the following search techniques: </a:t>
            </a:r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386FB147-828A-97AD-5F49-FC286B1B9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8730" y="1825625"/>
            <a:ext cx="3800856" cy="4303464"/>
          </a:xfrm>
        </p:spPr>
        <p:txBody>
          <a:bodyPr>
            <a:normAutofit/>
          </a:bodyPr>
          <a:lstStyle/>
          <a:p>
            <a:r>
              <a:rPr lang="en-US" sz="2000" dirty="0"/>
              <a:t>Best First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5983F3-5177-6EC0-9845-3BAE850DBC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621"/>
          <a:stretch/>
        </p:blipFill>
        <p:spPr>
          <a:xfrm>
            <a:off x="-144266" y="1825625"/>
            <a:ext cx="8232996" cy="503237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8ACA1D8-E5A8-4A8A-859F-9A2EBB642944}"/>
              </a:ext>
            </a:extLst>
          </p:cNvPr>
          <p:cNvSpPr/>
          <p:nvPr/>
        </p:nvSpPr>
        <p:spPr>
          <a:xfrm>
            <a:off x="2517058" y="3465871"/>
            <a:ext cx="157316" cy="17698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1D8523E-884C-AA59-98AE-2A4F52A8CBF9}"/>
              </a:ext>
            </a:extLst>
          </p:cNvPr>
          <p:cNvSpPr/>
          <p:nvPr/>
        </p:nvSpPr>
        <p:spPr>
          <a:xfrm>
            <a:off x="5589638" y="4876800"/>
            <a:ext cx="157316" cy="17698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3678A8B-1EFD-049F-9A7C-52BE176F4612}"/>
              </a:ext>
            </a:extLst>
          </p:cNvPr>
          <p:cNvSpPr/>
          <p:nvPr/>
        </p:nvSpPr>
        <p:spPr>
          <a:xfrm>
            <a:off x="9906000" y="2215691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9711B60-46CF-53F7-5FA6-F40AE4A964CE}"/>
              </a:ext>
            </a:extLst>
          </p:cNvPr>
          <p:cNvSpPr/>
          <p:nvPr/>
        </p:nvSpPr>
        <p:spPr>
          <a:xfrm>
            <a:off x="11036798" y="3333134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Z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076C440-7109-D9AB-46F8-233B85131070}"/>
              </a:ext>
            </a:extLst>
          </p:cNvPr>
          <p:cNvSpPr/>
          <p:nvPr/>
        </p:nvSpPr>
        <p:spPr>
          <a:xfrm>
            <a:off x="9906000" y="3353009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5C41226-A62C-6195-C423-CCE0088A4A77}"/>
              </a:ext>
            </a:extLst>
          </p:cNvPr>
          <p:cNvSpPr/>
          <p:nvPr/>
        </p:nvSpPr>
        <p:spPr>
          <a:xfrm>
            <a:off x="8695022" y="3333135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</a:t>
            </a: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C3A2F433-CD30-1B6C-E519-5F36FCF48C7B}"/>
              </a:ext>
            </a:extLst>
          </p:cNvPr>
          <p:cNvCxnSpPr>
            <a:stCxn id="8" idx="3"/>
            <a:endCxn id="11" idx="0"/>
          </p:cNvCxnSpPr>
          <p:nvPr/>
        </p:nvCxnSpPr>
        <p:spPr>
          <a:xfrm rot="5400000">
            <a:off x="9228610" y="2554951"/>
            <a:ext cx="588725" cy="96764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690B2002-B4EC-BF8A-D05F-5178DE3B0C6E}"/>
              </a:ext>
            </a:extLst>
          </p:cNvPr>
          <p:cNvCxnSpPr>
            <a:cxnSpLocks/>
            <a:stCxn id="8" idx="4"/>
            <a:endCxn id="10" idx="0"/>
          </p:cNvCxnSpPr>
          <p:nvPr/>
        </p:nvCxnSpPr>
        <p:spPr>
          <a:xfrm rot="5400000">
            <a:off x="9991187" y="3094066"/>
            <a:ext cx="517885" cy="1270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53F73BCC-2C3D-9F3F-7487-99D7D11DFE39}"/>
              </a:ext>
            </a:extLst>
          </p:cNvPr>
          <p:cNvCxnSpPr>
            <a:cxnSpLocks/>
            <a:stCxn id="8" idx="5"/>
            <a:endCxn id="9" idx="0"/>
          </p:cNvCxnSpPr>
          <p:nvPr/>
        </p:nvCxnSpPr>
        <p:spPr>
          <a:xfrm rot="16200000" flipH="1">
            <a:off x="10642834" y="2595041"/>
            <a:ext cx="588724" cy="88746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E095C93F-4595-FE2A-BB1A-DEDC410735A5}"/>
              </a:ext>
            </a:extLst>
          </p:cNvPr>
          <p:cNvSpPr/>
          <p:nvPr/>
        </p:nvSpPr>
        <p:spPr>
          <a:xfrm>
            <a:off x="9335313" y="4219886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5D03133-B7A9-9E8C-E8A4-7400D67DF7A9}"/>
              </a:ext>
            </a:extLst>
          </p:cNvPr>
          <p:cNvSpPr/>
          <p:nvPr/>
        </p:nvSpPr>
        <p:spPr>
          <a:xfrm>
            <a:off x="8604924" y="4241085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C67BB21-572A-F0ED-6651-EBF447E515B8}"/>
              </a:ext>
            </a:extLst>
          </p:cNvPr>
          <p:cNvSpPr/>
          <p:nvPr/>
        </p:nvSpPr>
        <p:spPr>
          <a:xfrm>
            <a:off x="7844534" y="4221209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86973DDA-E087-4F37-D036-2D98EAF8A17F}"/>
              </a:ext>
            </a:extLst>
          </p:cNvPr>
          <p:cNvCxnSpPr>
            <a:cxnSpLocks/>
            <a:stCxn id="11" idx="3"/>
            <a:endCxn id="12" idx="0"/>
          </p:cNvCxnSpPr>
          <p:nvPr/>
        </p:nvCxnSpPr>
        <p:spPr>
          <a:xfrm rot="5400000">
            <a:off x="8312562" y="3737955"/>
            <a:ext cx="359355" cy="60715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F36B8026-58EB-13BE-79C8-076BB7755A28}"/>
              </a:ext>
            </a:extLst>
          </p:cNvPr>
          <p:cNvCxnSpPr>
            <a:cxnSpLocks/>
            <a:stCxn id="11" idx="4"/>
            <a:endCxn id="4" idx="0"/>
          </p:cNvCxnSpPr>
          <p:nvPr/>
        </p:nvCxnSpPr>
        <p:spPr>
          <a:xfrm rot="5400000">
            <a:off x="8849844" y="4051777"/>
            <a:ext cx="288517" cy="9009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4A73958B-E25C-EE84-E067-77F60D21E7E8}"/>
              </a:ext>
            </a:extLst>
          </p:cNvPr>
          <p:cNvCxnSpPr>
            <a:cxnSpLocks/>
            <a:stCxn id="11" idx="5"/>
            <a:endCxn id="3" idx="0"/>
          </p:cNvCxnSpPr>
          <p:nvPr/>
        </p:nvCxnSpPr>
        <p:spPr>
          <a:xfrm rot="16200000" flipH="1">
            <a:off x="9301948" y="3842392"/>
            <a:ext cx="358032" cy="39695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CB53D9D-5FE8-DEAE-3BB6-A6A0E9113B2D}"/>
              </a:ext>
            </a:extLst>
          </p:cNvPr>
          <p:cNvSpPr txBox="1"/>
          <p:nvPr/>
        </p:nvSpPr>
        <p:spPr>
          <a:xfrm>
            <a:off x="8186087" y="3057730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253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BCD9B4-EDA9-75A1-0AC7-E5D758DC1C8A}"/>
              </a:ext>
            </a:extLst>
          </p:cNvPr>
          <p:cNvSpPr txBox="1"/>
          <p:nvPr/>
        </p:nvSpPr>
        <p:spPr>
          <a:xfrm>
            <a:off x="10236344" y="3084508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329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E122BD-C1D3-0002-509F-7454CE0E9AA7}"/>
              </a:ext>
            </a:extLst>
          </p:cNvPr>
          <p:cNvSpPr txBox="1"/>
          <p:nvPr/>
        </p:nvSpPr>
        <p:spPr>
          <a:xfrm>
            <a:off x="11793001" y="3058714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1D72B2-0B84-37AE-F8BF-AC643F87863B}"/>
              </a:ext>
            </a:extLst>
          </p:cNvPr>
          <p:cNvSpPr txBox="1"/>
          <p:nvPr/>
        </p:nvSpPr>
        <p:spPr>
          <a:xfrm>
            <a:off x="7694014" y="3832001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EECCB7-62FA-BF02-A14D-ABA77D1D9639}"/>
              </a:ext>
            </a:extLst>
          </p:cNvPr>
          <p:cNvSpPr txBox="1"/>
          <p:nvPr/>
        </p:nvSpPr>
        <p:spPr>
          <a:xfrm>
            <a:off x="8463411" y="3892952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380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B1AB81-0FA4-8F16-CBAF-4EBB47F0B083}"/>
              </a:ext>
            </a:extLst>
          </p:cNvPr>
          <p:cNvSpPr txBox="1"/>
          <p:nvPr/>
        </p:nvSpPr>
        <p:spPr>
          <a:xfrm>
            <a:off x="9771158" y="4035220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193</a:t>
            </a:r>
          </a:p>
        </p:txBody>
      </p:sp>
    </p:spTree>
    <p:extLst>
      <p:ext uri="{BB962C8B-B14F-4D97-AF65-F5344CB8AC3E}">
        <p14:creationId xmlns:p14="http://schemas.microsoft.com/office/powerpoint/2010/main" val="5319306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4BF235-191F-52D7-A1AD-B17B2CF49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5920E57-968E-B4F3-3890-FB6F0B30A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AAA6BE-A567-8AE2-A279-D3311A6D6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88784"/>
          </a:xfrm>
        </p:spPr>
        <p:txBody>
          <a:bodyPr>
            <a:normAutofit/>
          </a:bodyPr>
          <a:lstStyle/>
          <a:p>
            <a:r>
              <a:rPr lang="en-US" sz="2800" dirty="0"/>
              <a:t>1. Given the </a:t>
            </a:r>
            <a:r>
              <a:rPr lang="en-US" sz="2800" b="1" dirty="0"/>
              <a:t>Arad/Bucharest </a:t>
            </a:r>
            <a:r>
              <a:rPr lang="en-US" sz="2800" dirty="0"/>
              <a:t>route finding problem and the heuristics table below, show the list n of visited nodes using the following search techniques: </a:t>
            </a:r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1D413B95-38A0-A2F8-CF8C-840640E8A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8730" y="1825625"/>
            <a:ext cx="3800856" cy="4303464"/>
          </a:xfrm>
        </p:spPr>
        <p:txBody>
          <a:bodyPr>
            <a:normAutofit/>
          </a:bodyPr>
          <a:lstStyle/>
          <a:p>
            <a:r>
              <a:rPr lang="en-US" sz="2000" dirty="0"/>
              <a:t>Best First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4D4B9C-882D-4028-DE74-A60A4D19B5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621"/>
          <a:stretch/>
        </p:blipFill>
        <p:spPr>
          <a:xfrm>
            <a:off x="-144266" y="1825625"/>
            <a:ext cx="8232996" cy="503237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6D38458-B5CF-F818-5042-6C22AECFC772}"/>
              </a:ext>
            </a:extLst>
          </p:cNvPr>
          <p:cNvSpPr/>
          <p:nvPr/>
        </p:nvSpPr>
        <p:spPr>
          <a:xfrm>
            <a:off x="2517058" y="3465871"/>
            <a:ext cx="157316" cy="17698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7323CBB-1BF3-587D-B23D-716EF2A35FC5}"/>
              </a:ext>
            </a:extLst>
          </p:cNvPr>
          <p:cNvSpPr/>
          <p:nvPr/>
        </p:nvSpPr>
        <p:spPr>
          <a:xfrm>
            <a:off x="5589638" y="4876800"/>
            <a:ext cx="157316" cy="17698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D2896F7-2C96-8296-E1BA-F2578337497E}"/>
              </a:ext>
            </a:extLst>
          </p:cNvPr>
          <p:cNvSpPr/>
          <p:nvPr/>
        </p:nvSpPr>
        <p:spPr>
          <a:xfrm>
            <a:off x="9906000" y="2215691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B181BA-67BE-70FD-9E65-804269A25996}"/>
              </a:ext>
            </a:extLst>
          </p:cNvPr>
          <p:cNvSpPr/>
          <p:nvPr/>
        </p:nvSpPr>
        <p:spPr>
          <a:xfrm>
            <a:off x="11036798" y="3333134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Z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85591FB-06E6-E93D-34C0-F6D5D19B1265}"/>
              </a:ext>
            </a:extLst>
          </p:cNvPr>
          <p:cNvSpPr/>
          <p:nvPr/>
        </p:nvSpPr>
        <p:spPr>
          <a:xfrm>
            <a:off x="9906000" y="3353009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29DD5ED-53E9-BCCD-1EBA-7A8FCFA62DC5}"/>
              </a:ext>
            </a:extLst>
          </p:cNvPr>
          <p:cNvSpPr/>
          <p:nvPr/>
        </p:nvSpPr>
        <p:spPr>
          <a:xfrm>
            <a:off x="8695022" y="3333135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</a:t>
            </a: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87286820-A66F-A091-7555-022F97732107}"/>
              </a:ext>
            </a:extLst>
          </p:cNvPr>
          <p:cNvCxnSpPr>
            <a:stCxn id="8" idx="3"/>
            <a:endCxn id="11" idx="0"/>
          </p:cNvCxnSpPr>
          <p:nvPr/>
        </p:nvCxnSpPr>
        <p:spPr>
          <a:xfrm rot="5400000">
            <a:off x="9228610" y="2554951"/>
            <a:ext cx="588725" cy="96764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C059AC9F-7602-5433-8A32-919806D5885B}"/>
              </a:ext>
            </a:extLst>
          </p:cNvPr>
          <p:cNvCxnSpPr>
            <a:cxnSpLocks/>
            <a:stCxn id="8" idx="4"/>
            <a:endCxn id="10" idx="0"/>
          </p:cNvCxnSpPr>
          <p:nvPr/>
        </p:nvCxnSpPr>
        <p:spPr>
          <a:xfrm rot="5400000">
            <a:off x="9991187" y="3094066"/>
            <a:ext cx="517885" cy="1270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41984010-2473-0D06-4661-7AC413AC0B40}"/>
              </a:ext>
            </a:extLst>
          </p:cNvPr>
          <p:cNvCxnSpPr>
            <a:cxnSpLocks/>
            <a:stCxn id="8" idx="5"/>
            <a:endCxn id="9" idx="0"/>
          </p:cNvCxnSpPr>
          <p:nvPr/>
        </p:nvCxnSpPr>
        <p:spPr>
          <a:xfrm rot="16200000" flipH="1">
            <a:off x="10642834" y="2595041"/>
            <a:ext cx="588724" cy="88746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9B74095C-F454-859F-0327-82E4FE6BBD11}"/>
              </a:ext>
            </a:extLst>
          </p:cNvPr>
          <p:cNvSpPr/>
          <p:nvPr/>
        </p:nvSpPr>
        <p:spPr>
          <a:xfrm>
            <a:off x="9335313" y="4219886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02FE836-3FF3-5DD5-6BDB-49321D89CBE0}"/>
              </a:ext>
            </a:extLst>
          </p:cNvPr>
          <p:cNvSpPr/>
          <p:nvPr/>
        </p:nvSpPr>
        <p:spPr>
          <a:xfrm>
            <a:off x="8604924" y="4241085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9001B21-B5A9-A560-A949-B3BE51E2FA99}"/>
              </a:ext>
            </a:extLst>
          </p:cNvPr>
          <p:cNvSpPr/>
          <p:nvPr/>
        </p:nvSpPr>
        <p:spPr>
          <a:xfrm>
            <a:off x="7844534" y="4221209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9791BF5D-D851-7030-79AF-E14400D4D139}"/>
              </a:ext>
            </a:extLst>
          </p:cNvPr>
          <p:cNvCxnSpPr>
            <a:cxnSpLocks/>
            <a:stCxn id="11" idx="3"/>
            <a:endCxn id="12" idx="0"/>
          </p:cNvCxnSpPr>
          <p:nvPr/>
        </p:nvCxnSpPr>
        <p:spPr>
          <a:xfrm rot="5400000">
            <a:off x="8312562" y="3737955"/>
            <a:ext cx="359355" cy="60715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727C059D-3574-7D34-BD1B-12EDBFD01523}"/>
              </a:ext>
            </a:extLst>
          </p:cNvPr>
          <p:cNvCxnSpPr>
            <a:cxnSpLocks/>
            <a:stCxn id="11" idx="4"/>
            <a:endCxn id="4" idx="0"/>
          </p:cNvCxnSpPr>
          <p:nvPr/>
        </p:nvCxnSpPr>
        <p:spPr>
          <a:xfrm rot="5400000">
            <a:off x="8849844" y="4051777"/>
            <a:ext cx="288517" cy="9009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E177EA20-8A65-F544-1869-E0289E792D88}"/>
              </a:ext>
            </a:extLst>
          </p:cNvPr>
          <p:cNvCxnSpPr>
            <a:cxnSpLocks/>
            <a:stCxn id="11" idx="5"/>
            <a:endCxn id="3" idx="0"/>
          </p:cNvCxnSpPr>
          <p:nvPr/>
        </p:nvCxnSpPr>
        <p:spPr>
          <a:xfrm rot="16200000" flipH="1">
            <a:off x="9301948" y="3842392"/>
            <a:ext cx="358032" cy="39695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06774F1-3B0D-760A-C73F-7D9ABB796CEF}"/>
              </a:ext>
            </a:extLst>
          </p:cNvPr>
          <p:cNvSpPr txBox="1"/>
          <p:nvPr/>
        </p:nvSpPr>
        <p:spPr>
          <a:xfrm>
            <a:off x="8186087" y="3057730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253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57C9AD-620F-F3DC-83B2-87E27BEA7878}"/>
              </a:ext>
            </a:extLst>
          </p:cNvPr>
          <p:cNvSpPr txBox="1"/>
          <p:nvPr/>
        </p:nvSpPr>
        <p:spPr>
          <a:xfrm>
            <a:off x="10236344" y="3084508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329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5C8019-B8F4-8792-A2B1-24A7D08414E8}"/>
              </a:ext>
            </a:extLst>
          </p:cNvPr>
          <p:cNvSpPr txBox="1"/>
          <p:nvPr/>
        </p:nvSpPr>
        <p:spPr>
          <a:xfrm>
            <a:off x="11793001" y="3058714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374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9F24E8-6FBC-D149-92F5-5AFE9443F83F}"/>
              </a:ext>
            </a:extLst>
          </p:cNvPr>
          <p:cNvSpPr txBox="1"/>
          <p:nvPr/>
        </p:nvSpPr>
        <p:spPr>
          <a:xfrm>
            <a:off x="7694014" y="3832001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7CE758-5113-808B-72B5-1241843E21C7}"/>
              </a:ext>
            </a:extLst>
          </p:cNvPr>
          <p:cNvSpPr txBox="1"/>
          <p:nvPr/>
        </p:nvSpPr>
        <p:spPr>
          <a:xfrm>
            <a:off x="8463411" y="3892952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380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B5B78A-7C53-5F8F-CD18-827AB170B3AD}"/>
              </a:ext>
            </a:extLst>
          </p:cNvPr>
          <p:cNvSpPr txBox="1"/>
          <p:nvPr/>
        </p:nvSpPr>
        <p:spPr>
          <a:xfrm>
            <a:off x="9771158" y="4035220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193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99973E6-E4FF-D1CA-7A44-2D9BC9E02CE5}"/>
              </a:ext>
            </a:extLst>
          </p:cNvPr>
          <p:cNvSpPr/>
          <p:nvPr/>
        </p:nvSpPr>
        <p:spPr>
          <a:xfrm>
            <a:off x="7871187" y="5339511"/>
            <a:ext cx="688258" cy="61943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</a:t>
            </a:r>
          </a:p>
        </p:txBody>
      </p: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37087DA6-5702-7716-EC16-14CEC01DE077}"/>
              </a:ext>
            </a:extLst>
          </p:cNvPr>
          <p:cNvCxnSpPr>
            <a:cxnSpLocks/>
            <a:stCxn id="12" idx="4"/>
            <a:endCxn id="27" idx="0"/>
          </p:cNvCxnSpPr>
          <p:nvPr/>
        </p:nvCxnSpPr>
        <p:spPr>
          <a:xfrm rot="16200000" flipH="1">
            <a:off x="7952555" y="5076749"/>
            <a:ext cx="498869" cy="2665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671C64B-7D5C-CEA3-5CC3-12AB00DBEE23}"/>
              </a:ext>
            </a:extLst>
          </p:cNvPr>
          <p:cNvSpPr txBox="1"/>
          <p:nvPr/>
        </p:nvSpPr>
        <p:spPr>
          <a:xfrm>
            <a:off x="8342876" y="5120464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1D4B7C-2E64-345E-3D63-EFEB5DEE0637}"/>
              </a:ext>
            </a:extLst>
          </p:cNvPr>
          <p:cNvSpPr txBox="1"/>
          <p:nvPr/>
        </p:nvSpPr>
        <p:spPr>
          <a:xfrm>
            <a:off x="9296069" y="5418394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Order: A,S,F,B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148C72-333D-63EF-3657-B144B40798FE}"/>
              </a:ext>
            </a:extLst>
          </p:cNvPr>
          <p:cNvSpPr txBox="1"/>
          <p:nvPr/>
        </p:nvSpPr>
        <p:spPr>
          <a:xfrm>
            <a:off x="9335313" y="6082922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Path: A,S,F,B</a:t>
            </a:r>
          </a:p>
        </p:txBody>
      </p:sp>
    </p:spTree>
    <p:extLst>
      <p:ext uri="{BB962C8B-B14F-4D97-AF65-F5344CB8AC3E}">
        <p14:creationId xmlns:p14="http://schemas.microsoft.com/office/powerpoint/2010/main" val="18392670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5D0C90-1EBE-430D-9B1B-6245B3A5CD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377"/>
          <a:stretch/>
        </p:blipFill>
        <p:spPr>
          <a:xfrm>
            <a:off x="911664" y="147781"/>
            <a:ext cx="10680021" cy="63730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BB49E7-D43F-4367-A665-8786DF7A54F8}"/>
              </a:ext>
            </a:extLst>
          </p:cNvPr>
          <p:cNvSpPr txBox="1"/>
          <p:nvPr/>
        </p:nvSpPr>
        <p:spPr>
          <a:xfrm>
            <a:off x="2863272" y="849746"/>
            <a:ext cx="692728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3A599B-C9DB-488F-B2C6-E9412FF985CA}"/>
              </a:ext>
            </a:extLst>
          </p:cNvPr>
          <p:cNvSpPr txBox="1"/>
          <p:nvPr/>
        </p:nvSpPr>
        <p:spPr>
          <a:xfrm>
            <a:off x="2863272" y="2609273"/>
            <a:ext cx="692728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77DE8B-5D11-467B-816C-E33C9C8A9E00}"/>
              </a:ext>
            </a:extLst>
          </p:cNvPr>
          <p:cNvSpPr txBox="1"/>
          <p:nvPr/>
        </p:nvSpPr>
        <p:spPr>
          <a:xfrm>
            <a:off x="6096000" y="147781"/>
            <a:ext cx="5495685" cy="830997"/>
          </a:xfrm>
          <a:prstGeom prst="rect">
            <a:avLst/>
          </a:prstGeom>
          <a:solidFill>
            <a:schemeClr val="tx1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Use Best first</a:t>
            </a:r>
            <a:endParaRPr lang="en-US" sz="2400" b="1" u="sng" dirty="0"/>
          </a:p>
          <a:p>
            <a:pPr algn="ctr"/>
            <a:r>
              <a:rPr lang="en-US" sz="2400" b="1" dirty="0"/>
              <a:t>Initial: Craiova …. Goal: </a:t>
            </a:r>
            <a:r>
              <a:rPr lang="en-US" sz="2400" b="1" dirty="0" err="1"/>
              <a:t>Hirsova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006533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CD04806-08FA-9552-2DEA-04BDD7992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950479-FA3D-E654-3FD6-61244452D39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377"/>
          <a:stretch/>
        </p:blipFill>
        <p:spPr>
          <a:xfrm>
            <a:off x="0" y="1514169"/>
            <a:ext cx="7570839" cy="45177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F3EA10-CAFF-567A-38C1-05C315C64A7E}"/>
              </a:ext>
            </a:extLst>
          </p:cNvPr>
          <p:cNvSpPr txBox="1"/>
          <p:nvPr/>
        </p:nvSpPr>
        <p:spPr>
          <a:xfrm>
            <a:off x="1425677" y="2009953"/>
            <a:ext cx="422787" cy="2308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8475FC-F1B7-B802-C132-03ACD81728E5}"/>
              </a:ext>
            </a:extLst>
          </p:cNvPr>
          <p:cNvSpPr txBox="1"/>
          <p:nvPr/>
        </p:nvSpPr>
        <p:spPr>
          <a:xfrm>
            <a:off x="1425676" y="3225207"/>
            <a:ext cx="422787" cy="2308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9F78CB8-D7EF-DD63-A78C-3EE053C56659}"/>
              </a:ext>
            </a:extLst>
          </p:cNvPr>
          <p:cNvSpPr/>
          <p:nvPr/>
        </p:nvSpPr>
        <p:spPr>
          <a:xfrm>
            <a:off x="9561871" y="1514169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B4D2065-ACC8-A714-22BB-E18BCDD0D6E1}"/>
              </a:ext>
            </a:extLst>
          </p:cNvPr>
          <p:cNvSpPr/>
          <p:nvPr/>
        </p:nvSpPr>
        <p:spPr>
          <a:xfrm>
            <a:off x="10692669" y="2631612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09D5A34-D659-A9B7-7955-5C9093343DBA}"/>
              </a:ext>
            </a:extLst>
          </p:cNvPr>
          <p:cNvSpPr/>
          <p:nvPr/>
        </p:nvSpPr>
        <p:spPr>
          <a:xfrm>
            <a:off x="9561871" y="2651487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5906A7D-4B42-E373-3C89-134B810B8469}"/>
              </a:ext>
            </a:extLst>
          </p:cNvPr>
          <p:cNvSpPr/>
          <p:nvPr/>
        </p:nvSpPr>
        <p:spPr>
          <a:xfrm>
            <a:off x="8350893" y="2631613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</a:t>
            </a:r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731C11D8-1001-DE27-DFB0-1F857504F4C7}"/>
              </a:ext>
            </a:extLst>
          </p:cNvPr>
          <p:cNvCxnSpPr>
            <a:stCxn id="3" idx="3"/>
            <a:endCxn id="10" idx="0"/>
          </p:cNvCxnSpPr>
          <p:nvPr/>
        </p:nvCxnSpPr>
        <p:spPr>
          <a:xfrm rot="5400000">
            <a:off x="8884481" y="1853429"/>
            <a:ext cx="588725" cy="96764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8C958C75-88B5-2208-301A-0763C30935DB}"/>
              </a:ext>
            </a:extLst>
          </p:cNvPr>
          <p:cNvCxnSpPr>
            <a:cxnSpLocks/>
            <a:stCxn id="3" idx="5"/>
            <a:endCxn id="4" idx="0"/>
          </p:cNvCxnSpPr>
          <p:nvPr/>
        </p:nvCxnSpPr>
        <p:spPr>
          <a:xfrm rot="16200000" flipH="1">
            <a:off x="10298705" y="1893519"/>
            <a:ext cx="588724" cy="88746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1180286-8570-3570-0C18-2D6C88AD5ADB}"/>
              </a:ext>
            </a:extLst>
          </p:cNvPr>
          <p:cNvSpPr txBox="1"/>
          <p:nvPr/>
        </p:nvSpPr>
        <p:spPr>
          <a:xfrm>
            <a:off x="7841958" y="2356208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242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E7EF99-B7C8-94A8-0D16-25F75B5E9363}"/>
              </a:ext>
            </a:extLst>
          </p:cNvPr>
          <p:cNvSpPr txBox="1"/>
          <p:nvPr/>
        </p:nvSpPr>
        <p:spPr>
          <a:xfrm>
            <a:off x="9892215" y="2382986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98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CD89A6-B47D-8482-3D84-B1164C88E58F}"/>
              </a:ext>
            </a:extLst>
          </p:cNvPr>
          <p:cNvSpPr txBox="1"/>
          <p:nvPr/>
        </p:nvSpPr>
        <p:spPr>
          <a:xfrm>
            <a:off x="11448872" y="2357192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193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1FC12D9-A6D4-A206-F520-03D422F9EC32}"/>
              </a:ext>
            </a:extLst>
          </p:cNvPr>
          <p:cNvSpPr/>
          <p:nvPr/>
        </p:nvSpPr>
        <p:spPr>
          <a:xfrm>
            <a:off x="10004411" y="3587081"/>
            <a:ext cx="688258" cy="619433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1E89AC4-B5CB-01CE-5A24-1AAD364A49BC}"/>
              </a:ext>
            </a:extLst>
          </p:cNvPr>
          <p:cNvSpPr/>
          <p:nvPr/>
        </p:nvSpPr>
        <p:spPr>
          <a:xfrm>
            <a:off x="9155528" y="3600510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5B250AE-5766-EF10-2856-985725B9B819}"/>
              </a:ext>
            </a:extLst>
          </p:cNvPr>
          <p:cNvSpPr/>
          <p:nvPr/>
        </p:nvSpPr>
        <p:spPr>
          <a:xfrm>
            <a:off x="9517504" y="4465795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3B74387-249B-AC08-9086-197E4CD9131B}"/>
              </a:ext>
            </a:extLst>
          </p:cNvPr>
          <p:cNvSpPr/>
          <p:nvPr/>
        </p:nvSpPr>
        <p:spPr>
          <a:xfrm>
            <a:off x="8742743" y="4499003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DE8B8DD-D111-D7C8-3BF0-503C6DC15229}"/>
              </a:ext>
            </a:extLst>
          </p:cNvPr>
          <p:cNvSpPr/>
          <p:nvPr/>
        </p:nvSpPr>
        <p:spPr>
          <a:xfrm>
            <a:off x="8005715" y="4499002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F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AA9EB8B-D8E6-DDD6-ABD8-FC82520414E6}"/>
              </a:ext>
            </a:extLst>
          </p:cNvPr>
          <p:cNvSpPr/>
          <p:nvPr/>
        </p:nvSpPr>
        <p:spPr>
          <a:xfrm>
            <a:off x="10149336" y="5654225"/>
            <a:ext cx="688258" cy="619433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A39D97A-8B33-EE97-67DE-4ABB5AD975D7}"/>
              </a:ext>
            </a:extLst>
          </p:cNvPr>
          <p:cNvSpPr/>
          <p:nvPr/>
        </p:nvSpPr>
        <p:spPr>
          <a:xfrm>
            <a:off x="8742743" y="5722200"/>
            <a:ext cx="688258" cy="61943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</a:t>
            </a:r>
          </a:p>
        </p:txBody>
      </p: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110FF8C5-0001-201A-F221-737B6DA25F48}"/>
              </a:ext>
            </a:extLst>
          </p:cNvPr>
          <p:cNvCxnSpPr>
            <a:cxnSpLocks/>
            <a:stCxn id="9" idx="4"/>
            <a:endCxn id="17" idx="0"/>
          </p:cNvCxnSpPr>
          <p:nvPr/>
        </p:nvCxnSpPr>
        <p:spPr>
          <a:xfrm rot="5400000">
            <a:off x="9538034" y="3232544"/>
            <a:ext cx="329590" cy="406343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617DD624-E165-1D7C-7FF6-ADEBB5F9A4E4}"/>
              </a:ext>
            </a:extLst>
          </p:cNvPr>
          <p:cNvCxnSpPr>
            <a:cxnSpLocks/>
            <a:stCxn id="17" idx="4"/>
            <a:endCxn id="20" idx="0"/>
          </p:cNvCxnSpPr>
          <p:nvPr/>
        </p:nvCxnSpPr>
        <p:spPr>
          <a:xfrm rot="5400000">
            <a:off x="8785222" y="3784566"/>
            <a:ext cx="279059" cy="114981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86123EDC-8F22-A558-F428-5E965AA1176D}"/>
              </a:ext>
            </a:extLst>
          </p:cNvPr>
          <p:cNvCxnSpPr>
            <a:cxnSpLocks/>
            <a:endCxn id="19" idx="0"/>
          </p:cNvCxnSpPr>
          <p:nvPr/>
        </p:nvCxnSpPr>
        <p:spPr>
          <a:xfrm rot="10800000" flipV="1">
            <a:off x="9086872" y="4290117"/>
            <a:ext cx="314340" cy="20888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BCB7023B-3020-6DCF-6FF7-9D00D5C36FE6}"/>
              </a:ext>
            </a:extLst>
          </p:cNvPr>
          <p:cNvCxnSpPr>
            <a:cxnSpLocks/>
            <a:stCxn id="17" idx="4"/>
            <a:endCxn id="18" idx="0"/>
          </p:cNvCxnSpPr>
          <p:nvPr/>
        </p:nvCxnSpPr>
        <p:spPr>
          <a:xfrm rot="16200000" flipH="1">
            <a:off x="9557719" y="4161881"/>
            <a:ext cx="245852" cy="36197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7B206492-E5CD-E16D-716D-2E2A7B96167E}"/>
              </a:ext>
            </a:extLst>
          </p:cNvPr>
          <p:cNvCxnSpPr>
            <a:cxnSpLocks/>
            <a:stCxn id="9" idx="4"/>
            <a:endCxn id="16" idx="0"/>
          </p:cNvCxnSpPr>
          <p:nvPr/>
        </p:nvCxnSpPr>
        <p:spPr>
          <a:xfrm rot="16200000" flipH="1">
            <a:off x="9969190" y="3207730"/>
            <a:ext cx="316161" cy="44254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11787143-4D8B-EB1A-29C0-0D8A55C2E341}"/>
              </a:ext>
            </a:extLst>
          </p:cNvPr>
          <p:cNvCxnSpPr>
            <a:cxnSpLocks/>
            <a:stCxn id="18" idx="4"/>
            <a:endCxn id="21" idx="0"/>
          </p:cNvCxnSpPr>
          <p:nvPr/>
        </p:nvCxnSpPr>
        <p:spPr>
          <a:xfrm rot="16200000" flipH="1">
            <a:off x="9893051" y="5053810"/>
            <a:ext cx="568997" cy="63183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92220BD2-9C79-7D43-3C5E-9EF6E1D72924}"/>
              </a:ext>
            </a:extLst>
          </p:cNvPr>
          <p:cNvCxnSpPr>
            <a:cxnSpLocks/>
            <a:stCxn id="18" idx="4"/>
            <a:endCxn id="22" idx="0"/>
          </p:cNvCxnSpPr>
          <p:nvPr/>
        </p:nvCxnSpPr>
        <p:spPr>
          <a:xfrm rot="5400000">
            <a:off x="9155767" y="5016334"/>
            <a:ext cx="636972" cy="77476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Curved 48">
            <a:extLst>
              <a:ext uri="{FF2B5EF4-FFF2-40B4-BE49-F238E27FC236}">
                <a16:creationId xmlns:a16="http://schemas.microsoft.com/office/drawing/2014/main" id="{7729A7CA-9779-3DB5-8894-B0404E10455A}"/>
              </a:ext>
            </a:extLst>
          </p:cNvPr>
          <p:cNvCxnSpPr>
            <a:cxnSpLocks/>
            <a:stCxn id="3" idx="4"/>
          </p:cNvCxnSpPr>
          <p:nvPr/>
        </p:nvCxnSpPr>
        <p:spPr>
          <a:xfrm rot="16200000" flipH="1">
            <a:off x="9621907" y="2417694"/>
            <a:ext cx="568187" cy="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D36939C3-0463-F62C-DA08-27578EF5309B}"/>
              </a:ext>
            </a:extLst>
          </p:cNvPr>
          <p:cNvSpPr txBox="1"/>
          <p:nvPr/>
        </p:nvSpPr>
        <p:spPr>
          <a:xfrm>
            <a:off x="8581477" y="3562094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B00F19B-D5CD-B585-0922-B45675417906}"/>
              </a:ext>
            </a:extLst>
          </p:cNvPr>
          <p:cNvSpPr txBox="1"/>
          <p:nvPr/>
        </p:nvSpPr>
        <p:spPr>
          <a:xfrm>
            <a:off x="10703718" y="3628157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11AFBFC-0196-1082-DC29-9DB6FBC32602}"/>
              </a:ext>
            </a:extLst>
          </p:cNvPr>
          <p:cNvSpPr txBox="1"/>
          <p:nvPr/>
        </p:nvSpPr>
        <p:spPr>
          <a:xfrm>
            <a:off x="7850183" y="5118434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21D3223-7F1D-C1B3-FBB7-2A1BE4155077}"/>
              </a:ext>
            </a:extLst>
          </p:cNvPr>
          <p:cNvSpPr txBox="1"/>
          <p:nvPr/>
        </p:nvSpPr>
        <p:spPr>
          <a:xfrm>
            <a:off x="8693973" y="5151444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E49EB6F-062D-2702-2DE3-55EAEEFA35E1}"/>
              </a:ext>
            </a:extLst>
          </p:cNvPr>
          <p:cNvSpPr txBox="1"/>
          <p:nvPr/>
        </p:nvSpPr>
        <p:spPr>
          <a:xfrm>
            <a:off x="10038107" y="5054270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80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649DD92-6903-0335-D308-6CD36CBF8C5D}"/>
              </a:ext>
            </a:extLst>
          </p:cNvPr>
          <p:cNvSpPr txBox="1"/>
          <p:nvPr/>
        </p:nvSpPr>
        <p:spPr>
          <a:xfrm>
            <a:off x="8312110" y="608779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D4DDDE8-EBDA-4201-ED1F-6C7CC4210DC4}"/>
              </a:ext>
            </a:extLst>
          </p:cNvPr>
          <p:cNvSpPr txBox="1"/>
          <p:nvPr/>
        </p:nvSpPr>
        <p:spPr>
          <a:xfrm>
            <a:off x="9747732" y="6043035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8271E3C-B270-0511-B1F2-684121B150D9}"/>
              </a:ext>
            </a:extLst>
          </p:cNvPr>
          <p:cNvSpPr txBox="1"/>
          <p:nvPr/>
        </p:nvSpPr>
        <p:spPr>
          <a:xfrm>
            <a:off x="7764837" y="549745"/>
            <a:ext cx="2743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Order: C,P,B,G,U,H  Path : C,P,B,U,H</a:t>
            </a:r>
          </a:p>
        </p:txBody>
      </p:sp>
    </p:spTree>
    <p:extLst>
      <p:ext uri="{BB962C8B-B14F-4D97-AF65-F5344CB8AC3E}">
        <p14:creationId xmlns:p14="http://schemas.microsoft.com/office/powerpoint/2010/main" val="3930072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942</TotalTime>
  <Words>854</Words>
  <Application>Microsoft Office PowerPoint</Application>
  <PresentationFormat>Widescreen</PresentationFormat>
  <Paragraphs>367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Aptos</vt:lpstr>
      <vt:lpstr>Aptos Display</vt:lpstr>
      <vt:lpstr>Arial</vt:lpstr>
      <vt:lpstr>Calibri</vt:lpstr>
      <vt:lpstr>Calibri Light</vt:lpstr>
      <vt:lpstr>Tahoma</vt:lpstr>
      <vt:lpstr>Tw Cen MT</vt:lpstr>
      <vt:lpstr>Office 2013 - 2022 Theme</vt:lpstr>
      <vt:lpstr>Office Theme</vt:lpstr>
      <vt:lpstr>Sheet 2: Search Best First</vt:lpstr>
      <vt:lpstr>PowerPoint Presentation</vt:lpstr>
      <vt:lpstr>BEST First Search Misplaced Tiles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Notice that </vt:lpstr>
      <vt:lpstr>BEST First Search  Manhattan Distance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 Given the Arad/Bucharest route finding problem and the heuristics table below, show the list n of visited nodes using the following search techniques: </vt:lpstr>
      <vt:lpstr>1. Given the Arad/Bucharest route finding problem and the heuristics table below, show the list n of visited nodes using the following search techniques: </vt:lpstr>
      <vt:lpstr>1. Given the Arad/Bucharest route finding problem and the heuristics table below, show the list n of visited nodes using the following search techniques: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Basnat Aboshanb</dc:creator>
  <cp:lastModifiedBy>Abdulrahman Elmadkhoum</cp:lastModifiedBy>
  <cp:revision>100</cp:revision>
  <dcterms:created xsi:type="dcterms:W3CDTF">2024-10-21T13:36:39Z</dcterms:created>
  <dcterms:modified xsi:type="dcterms:W3CDTF">2026-07-27T02:32:07Z</dcterms:modified>
</cp:coreProperties>
</file>