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5"/>
  </p:notesMasterIdLst>
  <p:handoutMasterIdLst>
    <p:handoutMasterId r:id="rId26"/>
  </p:handoutMasterIdLst>
  <p:sldIdLst>
    <p:sldId id="296" r:id="rId5"/>
    <p:sldId id="263" r:id="rId6"/>
    <p:sldId id="314" r:id="rId7"/>
    <p:sldId id="315" r:id="rId8"/>
    <p:sldId id="316" r:id="rId9"/>
    <p:sldId id="317" r:id="rId10"/>
    <p:sldId id="318" r:id="rId11"/>
    <p:sldId id="319" r:id="rId12"/>
    <p:sldId id="320" r:id="rId13"/>
    <p:sldId id="321" r:id="rId14"/>
    <p:sldId id="322" r:id="rId15"/>
    <p:sldId id="323" r:id="rId16"/>
    <p:sldId id="324" r:id="rId17"/>
    <p:sldId id="325" r:id="rId18"/>
    <p:sldId id="326" r:id="rId19"/>
    <p:sldId id="327" r:id="rId20"/>
    <p:sldId id="328" r:id="rId21"/>
    <p:sldId id="329" r:id="rId22"/>
    <p:sldId id="330" r:id="rId23"/>
    <p:sldId id="28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567A"/>
    <a:srgbClr val="0D1D51"/>
    <a:srgbClr val="0072C7"/>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887" autoAdjust="0"/>
  </p:normalViewPr>
  <p:slideViewPr>
    <p:cSldViewPr snapToGrid="0" showGuides="1">
      <p:cViewPr varScale="1">
        <p:scale>
          <a:sx n="75" d="100"/>
          <a:sy n="75" d="100"/>
        </p:scale>
        <p:origin x="974" y="43"/>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00" d="100"/>
          <a:sy n="100" d="100"/>
        </p:scale>
        <p:origin x="1560" y="-146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243D74-B9C1-450A-B0F3-6C6DCB0CF2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2C27C33-9BB1-41D5-A236-12767E7E72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AB3EA8-A58D-4C92-A3AB-D271CCC294C7}" type="datetimeFigureOut">
              <a:rPr lang="en-US" smtClean="0"/>
              <a:t>7/18/2026</a:t>
            </a:fld>
            <a:endParaRPr lang="en-US" dirty="0"/>
          </a:p>
        </p:txBody>
      </p:sp>
      <p:sp>
        <p:nvSpPr>
          <p:cNvPr id="4" name="Footer Placeholder 3">
            <a:extLst>
              <a:ext uri="{FF2B5EF4-FFF2-40B4-BE49-F238E27FC236}">
                <a16:creationId xmlns:a16="http://schemas.microsoft.com/office/drawing/2014/main" id="{44A7EADB-04A4-4093-B238-438E2C7317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DDD8696-706D-440E-AE04-4C644F0613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2A5DE8-F2C4-4DB3-88D1-656DCD59E73E}" type="slidenum">
              <a:rPr lang="en-US" smtClean="0"/>
              <a:t>‹#›</a:t>
            </a:fld>
            <a:endParaRPr lang="en-US" dirty="0"/>
          </a:p>
        </p:txBody>
      </p:sp>
    </p:spTree>
    <p:extLst>
      <p:ext uri="{BB962C8B-B14F-4D97-AF65-F5344CB8AC3E}">
        <p14:creationId xmlns:p14="http://schemas.microsoft.com/office/powerpoint/2010/main" val="1789824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FB4FA-E877-413E-B608-88789D806C57}" type="datetimeFigureOut">
              <a:rPr lang="en-US" noProof="0" smtClean="0"/>
              <a:t>7/18/2026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6304E-FDE3-4B4F-A3B7-EBE87F3FA5E2}" type="slidenum">
              <a:rPr lang="en-US" noProof="0" smtClean="0"/>
              <a:t>‹#›</a:t>
            </a:fld>
            <a:endParaRPr lang="en-US" noProof="0" dirty="0"/>
          </a:p>
        </p:txBody>
      </p:sp>
    </p:spTree>
    <p:extLst>
      <p:ext uri="{BB962C8B-B14F-4D97-AF65-F5344CB8AC3E}">
        <p14:creationId xmlns:p14="http://schemas.microsoft.com/office/powerpoint/2010/main" val="4085138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1</a:t>
            </a:fld>
            <a:endParaRPr lang="en-US" dirty="0"/>
          </a:p>
        </p:txBody>
      </p:sp>
    </p:spTree>
    <p:extLst>
      <p:ext uri="{BB962C8B-B14F-4D97-AF65-F5344CB8AC3E}">
        <p14:creationId xmlns:p14="http://schemas.microsoft.com/office/powerpoint/2010/main" val="34421903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D93970-B13A-F96D-A4B1-3A1EE7484106}"/>
              </a:ext>
            </a:extLst>
          </p:cNvPr>
          <p:cNvPicPr>
            <a:picLocks noChangeAspect="1"/>
          </p:cNvPicPr>
          <p:nvPr userDrawn="1"/>
        </p:nvPicPr>
        <p:blipFill>
          <a:blip r:embed="rId2"/>
          <a:srcRect/>
          <a:stretch/>
        </p:blipFill>
        <p:spPr>
          <a:xfrm>
            <a:off x="1" y="0"/>
            <a:ext cx="12202379" cy="6857999"/>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502920"/>
            <a:ext cx="10954512" cy="3246120"/>
          </a:xfrm>
        </p:spPr>
        <p:txBody>
          <a:bodyPr anchor="b">
            <a:noAutofit/>
          </a:bodyPr>
          <a:lstStyle>
            <a:lvl1pPr algn="ctr">
              <a:defRPr sz="6600" b="1" i="0" cap="none"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12648" y="3758183"/>
            <a:ext cx="10954512" cy="1307592"/>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8849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01">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850392"/>
            <a:ext cx="3913632" cy="4800600"/>
          </a:xfrm>
        </p:spPr>
        <p:txBody>
          <a:bodyPr/>
          <a:lstStyle>
            <a:lvl1pPr>
              <a:defRPr>
                <a:solidFill>
                  <a:schemeClr val="accent2">
                    <a:lumMod val="25000"/>
                  </a:schemeClr>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358384" y="1965960"/>
            <a:ext cx="4050792" cy="2953512"/>
          </a:xfrm>
        </p:spPr>
        <p:txBody>
          <a:bodyPr anchor="ctr" anchorCtr="0"/>
          <a:lstStyle>
            <a:lvl1pPr>
              <a:defRPr cap="all" baseline="0">
                <a:solidFill>
                  <a:schemeClr val="accent2">
                    <a:lumMod val="25000"/>
                  </a:schemeClr>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7" name="Rounded Rectangle 4">
            <a:extLst>
              <a:ext uri="{FF2B5EF4-FFF2-40B4-BE49-F238E27FC236}">
                <a16:creationId xmlns:a16="http://schemas.microsoft.com/office/drawing/2014/main" id="{906EB944-76A9-6F98-104E-59CD34F5CF9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7">
            <a:extLst>
              <a:ext uri="{FF2B5EF4-FFF2-40B4-BE49-F238E27FC236}">
                <a16:creationId xmlns:a16="http://schemas.microsoft.com/office/drawing/2014/main" id="{898C8E3F-6992-0D8A-CCA1-3DD2C147AA8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4756"/>
          <a:stretch/>
        </p:blipFill>
        <p:spPr>
          <a:xfrm>
            <a:off x="8853067" y="1"/>
            <a:ext cx="1875091" cy="1605320"/>
          </a:xfrm>
          <a:prstGeom prst="rect">
            <a:avLst/>
          </a:prstGeom>
        </p:spPr>
      </p:pic>
      <p:pic>
        <p:nvPicPr>
          <p:cNvPr id="13" name="Picture 7">
            <a:extLst>
              <a:ext uri="{FF2B5EF4-FFF2-40B4-BE49-F238E27FC236}">
                <a16:creationId xmlns:a16="http://schemas.microsoft.com/office/drawing/2014/main" id="{4417AC45-4CB7-72E8-3723-B1A3D81FB6E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13775" y="5533690"/>
            <a:ext cx="493392" cy="495528"/>
          </a:xfrm>
          <a:prstGeom prst="rect">
            <a:avLst/>
          </a:prstGeom>
        </p:spPr>
      </p:pic>
      <p:pic>
        <p:nvPicPr>
          <p:cNvPr id="15" name="Graphic 14">
            <a:extLst>
              <a:ext uri="{FF2B5EF4-FFF2-40B4-BE49-F238E27FC236}">
                <a16:creationId xmlns:a16="http://schemas.microsoft.com/office/drawing/2014/main" id="{AE5941EF-B160-313A-DA99-73C86EDC4C1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46794"/>
          <a:stretch/>
        </p:blipFill>
        <p:spPr>
          <a:xfrm>
            <a:off x="10316909" y="2723673"/>
            <a:ext cx="1875091" cy="3600981"/>
          </a:xfrm>
          <a:prstGeom prst="rect">
            <a:avLst/>
          </a:prstGeom>
        </p:spPr>
      </p:pic>
      <p:pic>
        <p:nvPicPr>
          <p:cNvPr id="17" name="Graphic 16">
            <a:extLst>
              <a:ext uri="{FF2B5EF4-FFF2-40B4-BE49-F238E27FC236}">
                <a16:creationId xmlns:a16="http://schemas.microsoft.com/office/drawing/2014/main" id="{EEC16221-5852-F1A3-24D1-8EF5E907173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1791"/>
          <a:stretch/>
        </p:blipFill>
        <p:spPr>
          <a:xfrm>
            <a:off x="3497179" y="6324654"/>
            <a:ext cx="910220" cy="541368"/>
          </a:xfrm>
          <a:prstGeom prst="rect">
            <a:avLst/>
          </a:prstGeom>
        </p:spPr>
      </p:pic>
      <p:pic>
        <p:nvPicPr>
          <p:cNvPr id="19" name="Graphic 18">
            <a:extLst>
              <a:ext uri="{FF2B5EF4-FFF2-40B4-BE49-F238E27FC236}">
                <a16:creationId xmlns:a16="http://schemas.microsoft.com/office/drawing/2014/main" id="{5D8B34C3-E35E-0B4E-1F8E-59C449A3C8DD}"/>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31904"/>
          <a:stretch/>
        </p:blipFill>
        <p:spPr>
          <a:xfrm>
            <a:off x="1601212" y="0"/>
            <a:ext cx="1032928" cy="718708"/>
          </a:xfrm>
          <a:prstGeom prst="rect">
            <a:avLst/>
          </a:prstGeom>
        </p:spPr>
      </p:pic>
    </p:spTree>
    <p:extLst>
      <p:ext uri="{BB962C8B-B14F-4D97-AF65-F5344CB8AC3E}">
        <p14:creationId xmlns:p14="http://schemas.microsoft.com/office/powerpoint/2010/main" val="3657855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0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1FEFCE-5DDA-D353-F1BF-36752F5F079A}"/>
              </a:ext>
            </a:extLst>
          </p:cNvPr>
          <p:cNvPicPr>
            <a:picLocks noChangeAspect="1"/>
          </p:cNvPicPr>
          <p:nvPr userDrawn="1"/>
        </p:nvPicPr>
        <p:blipFill>
          <a:blip r:embed="rId2"/>
          <a:srcRect/>
          <a:stretch/>
        </p:blipFill>
        <p:spPr>
          <a:xfrm>
            <a:off x="0" y="2917"/>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877824" y="1325880"/>
            <a:ext cx="10460736" cy="2286000"/>
          </a:xfrm>
        </p:spPr>
        <p:txBody>
          <a:bodyPr anchor="b">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877824" y="3749040"/>
            <a:ext cx="10460736" cy="2286000"/>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1502723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02">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7" name="Rounded Rectangle 3">
            <a:extLst>
              <a:ext uri="{FF2B5EF4-FFF2-40B4-BE49-F238E27FC236}">
                <a16:creationId xmlns:a16="http://schemas.microsoft.com/office/drawing/2014/main" id="{B6718ABD-4EA5-E3C5-0225-F6671DCA53AD}"/>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D721A955-CA2D-A65D-6E60-DAAAA4ACFA3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1050"/>
          <a:stretch/>
        </p:blipFill>
        <p:spPr>
          <a:xfrm>
            <a:off x="0" y="2887579"/>
            <a:ext cx="2432421" cy="3604662"/>
          </a:xfrm>
          <a:prstGeom prst="rect">
            <a:avLst/>
          </a:prstGeom>
        </p:spPr>
      </p:pic>
      <p:pic>
        <p:nvPicPr>
          <p:cNvPr id="9" name="Graphic 8">
            <a:extLst>
              <a:ext uri="{FF2B5EF4-FFF2-40B4-BE49-F238E27FC236}">
                <a16:creationId xmlns:a16="http://schemas.microsoft.com/office/drawing/2014/main" id="{AB70155A-604C-AD00-BE69-4505C75CE01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5874" b="-1"/>
          <a:stretch/>
        </p:blipFill>
        <p:spPr>
          <a:xfrm rot="5400000">
            <a:off x="11281284" y="2493882"/>
            <a:ext cx="1032928" cy="887899"/>
          </a:xfrm>
          <a:prstGeom prst="rect">
            <a:avLst/>
          </a:prstGeom>
        </p:spPr>
      </p:pic>
      <p:pic>
        <p:nvPicPr>
          <p:cNvPr id="10" name="Graphic 9">
            <a:extLst>
              <a:ext uri="{FF2B5EF4-FFF2-40B4-BE49-F238E27FC236}">
                <a16:creationId xmlns:a16="http://schemas.microsoft.com/office/drawing/2014/main" id="{F74D1084-EF5E-D016-13E0-1840BDFFD0AE}"/>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b="-880"/>
          <a:stretch/>
        </p:blipFill>
        <p:spPr>
          <a:xfrm>
            <a:off x="9897978" y="5987153"/>
            <a:ext cx="490012" cy="505088"/>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313432"/>
            <a:ext cx="6327648" cy="3218688"/>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889032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0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1B9A11-4222-BB4A-66D3-D37C79AC57C1}"/>
              </a:ext>
            </a:extLst>
          </p:cNvPr>
          <p:cNvPicPr>
            <a:picLocks noChangeAspect="1"/>
          </p:cNvPicPr>
          <p:nvPr userDrawn="1"/>
        </p:nvPicPr>
        <p:blipFill rotWithShape="1">
          <a:blip r:embed="rId2"/>
          <a:srcRect l="-1" r="21" b="21"/>
          <a:stretch/>
        </p:blipFill>
        <p:spPr>
          <a:xfrm>
            <a:off x="-2595" y="1459"/>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4654296" y="27432"/>
            <a:ext cx="7004304" cy="3566160"/>
          </a:xfrm>
        </p:spPr>
        <p:txBody>
          <a:bodyPr anchor="b">
            <a:noAutofit/>
          </a:bodyPr>
          <a:lstStyle>
            <a:lvl1pPr algn="ctr">
              <a:defRPr sz="60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4654295" y="3767328"/>
            <a:ext cx="7004303" cy="1161288"/>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29623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72C86F9-080E-93F7-C7B1-F5BEAD84E36E}"/>
              </a:ext>
            </a:extLst>
          </p:cNvPr>
          <p:cNvSpPr>
            <a:spLocks noGrp="1"/>
          </p:cNvSpPr>
          <p:nvPr>
            <p:ph type="title"/>
          </p:nvPr>
        </p:nvSpPr>
        <p:spPr>
          <a:xfrm>
            <a:off x="1078992" y="365760"/>
            <a:ext cx="105064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097280" y="2432304"/>
            <a:ext cx="3108960" cy="3412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4736592" y="1920240"/>
            <a:ext cx="6620256"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Rounded Rectangle 11">
            <a:extLst>
              <a:ext uri="{FF2B5EF4-FFF2-40B4-BE49-F238E27FC236}">
                <a16:creationId xmlns:a16="http://schemas.microsoft.com/office/drawing/2014/main" id="{7FF98F94-8801-13BE-8EB4-01921AC196C8}"/>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B7BF5718-9534-FD92-79D7-ECC66603E70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62387"/>
          <a:stretch/>
        </p:blipFill>
        <p:spPr>
          <a:xfrm rot="5400000">
            <a:off x="1778676" y="5204330"/>
            <a:ext cx="907513" cy="2465321"/>
          </a:xfrm>
          <a:prstGeom prst="rect">
            <a:avLst/>
          </a:prstGeom>
        </p:spPr>
      </p:pic>
      <p:pic>
        <p:nvPicPr>
          <p:cNvPr id="9" name="Graphic 8">
            <a:extLst>
              <a:ext uri="{FF2B5EF4-FFF2-40B4-BE49-F238E27FC236}">
                <a16:creationId xmlns:a16="http://schemas.microsoft.com/office/drawing/2014/main" id="{4FF40650-9AD0-96F8-F702-185D1729AF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3558" y="5429608"/>
            <a:ext cx="406214" cy="415066"/>
          </a:xfrm>
          <a:prstGeom prst="rect">
            <a:avLst/>
          </a:prstGeom>
        </p:spPr>
      </p:pic>
      <p:pic>
        <p:nvPicPr>
          <p:cNvPr id="10" name="Graphic 9">
            <a:extLst>
              <a:ext uri="{FF2B5EF4-FFF2-40B4-BE49-F238E27FC236}">
                <a16:creationId xmlns:a16="http://schemas.microsoft.com/office/drawing/2014/main" id="{83AC8518-2F0B-6FC0-0C0E-6CE9D00EAC71}"/>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4860" b="-1"/>
          <a:stretch/>
        </p:blipFill>
        <p:spPr>
          <a:xfrm>
            <a:off x="10214191" y="365126"/>
            <a:ext cx="1032928" cy="1106730"/>
          </a:xfrm>
          <a:prstGeom prst="rect">
            <a:avLst/>
          </a:prstGeom>
        </p:spPr>
      </p:pic>
    </p:spTree>
    <p:extLst>
      <p:ext uri="{BB962C8B-B14F-4D97-AF65-F5344CB8AC3E}">
        <p14:creationId xmlns:p14="http://schemas.microsoft.com/office/powerpoint/2010/main" val="3196360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03">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7B4AF60-AC65-3E7A-4A5D-EBF1A7030D9B}"/>
              </a:ext>
            </a:extLst>
          </p:cNvPr>
          <p:cNvPicPr>
            <a:picLocks noChangeAspect="1"/>
          </p:cNvPicPr>
          <p:nvPr userDrawn="1"/>
        </p:nvPicPr>
        <p:blipFill rotWithShape="1">
          <a:blip r:embed="rId2"/>
          <a:srcRect l="3063" b="3063"/>
          <a:stretch/>
        </p:blipFill>
        <p:spPr>
          <a:xfrm>
            <a:off x="1" y="2917"/>
            <a:ext cx="12197189" cy="6855082"/>
          </a:xfrm>
          <a:prstGeom prst="rect">
            <a:avLst/>
          </a:prstGeom>
        </p:spPr>
      </p:pic>
      <p:sp>
        <p:nvSpPr>
          <p:cNvPr id="12" name="Rounded Rectangle 4">
            <a:extLst>
              <a:ext uri="{FF2B5EF4-FFF2-40B4-BE49-F238E27FC236}">
                <a16:creationId xmlns:a16="http://schemas.microsoft.com/office/drawing/2014/main" id="{95671103-2960-81E2-9A76-0E7FDE6B3E55}"/>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276856"/>
            <a:ext cx="6327648" cy="3090672"/>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701264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02">
    <p:bg>
      <p:bgPr>
        <a:gradFill>
          <a:gsLst>
            <a:gs pos="33000">
              <a:schemeClr val="bg2"/>
            </a:gs>
            <a:gs pos="59000">
              <a:schemeClr val="tx2">
                <a:lumMod val="90000"/>
                <a:alpha val="65163"/>
              </a:schemeClr>
            </a:gs>
          </a:gsLst>
          <a:lin ang="16800000" scaled="0"/>
        </a:gradFill>
        <a:effectLst/>
      </p:bgPr>
    </p:bg>
    <p:spTree>
      <p:nvGrpSpPr>
        <p:cNvPr id="1" name=""/>
        <p:cNvGrpSpPr/>
        <p:nvPr/>
      </p:nvGrpSpPr>
      <p:grpSpPr>
        <a:xfrm>
          <a:off x="0" y="0"/>
          <a:ext cx="0" cy="0"/>
          <a:chOff x="0" y="0"/>
          <a:chExt cx="0" cy="0"/>
        </a:xfrm>
      </p:grpSpPr>
      <p:sp>
        <p:nvSpPr>
          <p:cNvPr id="7" name="Rounded Rectangle 4">
            <a:extLst>
              <a:ext uri="{FF2B5EF4-FFF2-40B4-BE49-F238E27FC236}">
                <a16:creationId xmlns:a16="http://schemas.microsoft.com/office/drawing/2014/main" id="{86060D16-E6F6-EA0E-E58E-526234AB656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0E0958AA-6F1A-C4A2-FB66-1A6F7F8834B5}"/>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095" b="-1"/>
          <a:stretch/>
        </p:blipFill>
        <p:spPr>
          <a:xfrm>
            <a:off x="569419" y="4426479"/>
            <a:ext cx="1472805" cy="1596616"/>
          </a:xfrm>
          <a:prstGeom prst="rect">
            <a:avLst/>
          </a:prstGeom>
        </p:spPr>
      </p:pic>
      <p:pic>
        <p:nvPicPr>
          <p:cNvPr id="9" name="Graphic 8">
            <a:extLst>
              <a:ext uri="{FF2B5EF4-FFF2-40B4-BE49-F238E27FC236}">
                <a16:creationId xmlns:a16="http://schemas.microsoft.com/office/drawing/2014/main" id="{3DEADFA2-398E-9388-8295-063D31FB38E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095" b="-1"/>
          <a:stretch/>
        </p:blipFill>
        <p:spPr>
          <a:xfrm rot="3765410" flipV="1">
            <a:off x="1448505" y="4094575"/>
            <a:ext cx="862484" cy="934988"/>
          </a:xfrm>
          <a:prstGeom prst="rect">
            <a:avLst/>
          </a:prstGeom>
        </p:spPr>
      </p:pic>
      <p:pic>
        <p:nvPicPr>
          <p:cNvPr id="10" name="Picture 7">
            <a:extLst>
              <a:ext uri="{FF2B5EF4-FFF2-40B4-BE49-F238E27FC236}">
                <a16:creationId xmlns:a16="http://schemas.microsoft.com/office/drawing/2014/main" id="{D09A7588-8EFD-A0C5-4235-45B7D657ECF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35453"/>
          <a:stretch/>
        </p:blipFill>
        <p:spPr>
          <a:xfrm>
            <a:off x="9469547" y="5719093"/>
            <a:ext cx="1756858" cy="1138907"/>
          </a:xfrm>
          <a:prstGeom prst="rect">
            <a:avLst/>
          </a:prstGeom>
        </p:spPr>
      </p:pic>
      <p:pic>
        <p:nvPicPr>
          <p:cNvPr id="13" name="Graphic 12">
            <a:extLst>
              <a:ext uri="{FF2B5EF4-FFF2-40B4-BE49-F238E27FC236}">
                <a16:creationId xmlns:a16="http://schemas.microsoft.com/office/drawing/2014/main" id="{EF04D7D6-513C-D18A-AF21-D10F0E5D3B82}"/>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 r="-750"/>
          <a:stretch/>
        </p:blipFill>
        <p:spPr>
          <a:xfrm>
            <a:off x="8844546" y="50582"/>
            <a:ext cx="1307037" cy="1325563"/>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7671816"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499728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tx2"/>
        </a:solidFill>
        <a:effectLst/>
      </p:bgPr>
    </p:bg>
    <p:spTree>
      <p:nvGrpSpPr>
        <p:cNvPr id="1" name=""/>
        <p:cNvGrpSpPr/>
        <p:nvPr/>
      </p:nvGrpSpPr>
      <p:grpSpPr>
        <a:xfrm>
          <a:off x="0" y="0"/>
          <a:ext cx="0" cy="0"/>
          <a:chOff x="0" y="0"/>
          <a:chExt cx="0" cy="0"/>
        </a:xfrm>
      </p:grpSpPr>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30CE72F6-1D9D-E61E-F1EE-2861FDF7654A}"/>
              </a:ext>
            </a:extLst>
          </p:cNvPr>
          <p:cNvSpPr>
            <a:spLocks noGrp="1"/>
          </p:cNvSpPr>
          <p:nvPr>
            <p:ph idx="1"/>
          </p:nvPr>
        </p:nvSpPr>
        <p:spPr>
          <a:xfrm>
            <a:off x="1170432" y="2459736"/>
            <a:ext cx="2843784" cy="309067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4233672" y="2523744"/>
            <a:ext cx="6693408" cy="327355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85494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4">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1207008" y="2523744"/>
            <a:ext cx="9720072" cy="325526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18480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03">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A51A8B-A15C-2A94-1E48-F9615101DF48}"/>
              </a:ext>
            </a:extLst>
          </p:cNvPr>
          <p:cNvPicPr>
            <a:picLocks noChangeAspect="1"/>
          </p:cNvPicPr>
          <p:nvPr userDrawn="1"/>
        </p:nvPicPr>
        <p:blipFill rotWithShape="1">
          <a:blip r:embed="rId2"/>
          <a:srcRect l="8991" t="11245" r="3785" b="1531"/>
          <a:stretch/>
        </p:blipFill>
        <p:spPr>
          <a:xfrm>
            <a:off x="0" y="2917"/>
            <a:ext cx="12197192" cy="6855083"/>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1600200"/>
            <a:ext cx="10991088" cy="3657600"/>
          </a:xfrm>
        </p:spPr>
        <p:txBody>
          <a:bodyPr anchor="ctr">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099492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04">
    <p:bg>
      <p:bgPr>
        <a:gradFill>
          <a:gsLst>
            <a:gs pos="33000">
              <a:schemeClr val="bg2"/>
            </a:gs>
            <a:gs pos="59000">
              <a:schemeClr val="tx2">
                <a:lumMod val="90000"/>
                <a:alpha val="65163"/>
              </a:schemeClr>
            </a:gs>
          </a:gsLst>
          <a:lin ang="13800000" scaled="0"/>
        </a:gradFill>
        <a:effectLst/>
      </p:bgPr>
    </p:bg>
    <p:spTree>
      <p:nvGrpSpPr>
        <p:cNvPr id="1" name=""/>
        <p:cNvGrpSpPr/>
        <p:nvPr/>
      </p:nvGrpSpPr>
      <p:grpSpPr>
        <a:xfrm>
          <a:off x="0" y="0"/>
          <a:ext cx="0" cy="0"/>
          <a:chOff x="0" y="0"/>
          <a:chExt cx="0" cy="0"/>
        </a:xfrm>
      </p:grpSpPr>
      <p:sp>
        <p:nvSpPr>
          <p:cNvPr id="11" name="Rounded Rectangle 4">
            <a:extLst>
              <a:ext uri="{FF2B5EF4-FFF2-40B4-BE49-F238E27FC236}">
                <a16:creationId xmlns:a16="http://schemas.microsoft.com/office/drawing/2014/main" id="{5697808D-10E0-D8A5-5D07-E176EBB8F2BB}"/>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7">
            <a:extLst>
              <a:ext uri="{FF2B5EF4-FFF2-40B4-BE49-F238E27FC236}">
                <a16:creationId xmlns:a16="http://schemas.microsoft.com/office/drawing/2014/main" id="{0234D012-F86E-04CE-78C8-2C5A6613028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004" r="-148"/>
          <a:stretch/>
        </p:blipFill>
        <p:spPr>
          <a:xfrm rot="5400000">
            <a:off x="6378170" y="40082"/>
            <a:ext cx="1579705" cy="1600089"/>
          </a:xfrm>
          <a:prstGeom prst="rect">
            <a:avLst/>
          </a:prstGeom>
        </p:spPr>
      </p:pic>
      <p:pic>
        <p:nvPicPr>
          <p:cNvPr id="15" name="Picture 7">
            <a:extLst>
              <a:ext uri="{FF2B5EF4-FFF2-40B4-BE49-F238E27FC236}">
                <a16:creationId xmlns:a16="http://schemas.microsoft.com/office/drawing/2014/main" id="{0BC42061-F838-920E-632E-10EDE7E55392}"/>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239" r="25335" b="-1"/>
          <a:stretch/>
        </p:blipFill>
        <p:spPr>
          <a:xfrm rot="16200000">
            <a:off x="6298833" y="-161472"/>
            <a:ext cx="752715" cy="1075657"/>
          </a:xfrm>
          <a:prstGeom prst="rect">
            <a:avLst/>
          </a:prstGeom>
        </p:spPr>
      </p:pic>
      <p:pic>
        <p:nvPicPr>
          <p:cNvPr id="16" name="Graphic 15">
            <a:extLst>
              <a:ext uri="{FF2B5EF4-FFF2-40B4-BE49-F238E27FC236}">
                <a16:creationId xmlns:a16="http://schemas.microsoft.com/office/drawing/2014/main" id="{58BEE67F-530E-E41D-FD19-2615180DC3F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15931"/>
          <a:stretch/>
        </p:blipFill>
        <p:spPr>
          <a:xfrm>
            <a:off x="10439102" y="4145165"/>
            <a:ext cx="1780703" cy="2164311"/>
          </a:xfrm>
          <a:prstGeom prst="rect">
            <a:avLst/>
          </a:prstGeom>
        </p:spPr>
      </p:pic>
      <p:pic>
        <p:nvPicPr>
          <p:cNvPr id="17" name="Graphic 16">
            <a:extLst>
              <a:ext uri="{FF2B5EF4-FFF2-40B4-BE49-F238E27FC236}">
                <a16:creationId xmlns:a16="http://schemas.microsoft.com/office/drawing/2014/main" id="{82CFCA46-5F5A-867F-B19C-4F9ED5BA15A2}"/>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r="46794"/>
          <a:stretch/>
        </p:blipFill>
        <p:spPr>
          <a:xfrm rot="10800000">
            <a:off x="-27806" y="2452933"/>
            <a:ext cx="1370742" cy="2632414"/>
          </a:xfrm>
          <a:prstGeom prst="rect">
            <a:avLst/>
          </a:prstGeom>
        </p:spPr>
      </p:pic>
      <p:pic>
        <p:nvPicPr>
          <p:cNvPr id="18" name="Graphic 17">
            <a:extLst>
              <a:ext uri="{FF2B5EF4-FFF2-40B4-BE49-F238E27FC236}">
                <a16:creationId xmlns:a16="http://schemas.microsoft.com/office/drawing/2014/main" id="{11E8F80C-ACB2-552E-4433-1A8A2708F18F}"/>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1" b="-9728"/>
          <a:stretch/>
        </p:blipFill>
        <p:spPr>
          <a:xfrm rot="18286209">
            <a:off x="887827" y="4958926"/>
            <a:ext cx="910220" cy="1020507"/>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8293608" y="2441447"/>
            <a:ext cx="3063240" cy="3575303"/>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343850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CFCA6-7ECE-9BFB-9389-6DB74C862850}"/>
              </a:ext>
            </a:extLst>
          </p:cNvPr>
          <p:cNvPicPr>
            <a:picLocks noChangeAspect="1"/>
          </p:cNvPicPr>
          <p:nvPr userDrawn="1"/>
        </p:nvPicPr>
        <p:blipFill>
          <a:blip r:embed="rId2"/>
          <a:srcRect l="21" r="21"/>
          <a:stretch/>
        </p:blipFill>
        <p:spPr>
          <a:xfrm>
            <a:off x="-5192" y="-1"/>
            <a:ext cx="12197192" cy="6858001"/>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1133856" y="56450"/>
            <a:ext cx="9912096" cy="2743200"/>
          </a:xfrm>
        </p:spPr>
        <p:txBody>
          <a:bodyPr anchor="b">
            <a:noAutofit/>
          </a:bodyPr>
          <a:lstStyle>
            <a:lvl1pPr algn="l">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3575304" y="3110546"/>
            <a:ext cx="4114800" cy="2743200"/>
          </a:xfrm>
        </p:spPr>
        <p:txBody>
          <a:bodyPr>
            <a:noAutofit/>
          </a:bodyPr>
          <a:lstStyle>
            <a:lvl1pPr marL="0" indent="0" algn="l">
              <a:lnSpc>
                <a:spcPct val="150000"/>
              </a:lnSpc>
              <a:spcBef>
                <a:spcPts val="0"/>
              </a:spcBef>
              <a:buNone/>
              <a:defRPr sz="24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2960835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4D7FA-B85E-4477-8C62-94955B340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1F1226BB-3E56-4E7F-8172-7EC03C9F0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a:extLst>
              <a:ext uri="{FF2B5EF4-FFF2-40B4-BE49-F238E27FC236}">
                <a16:creationId xmlns:a16="http://schemas.microsoft.com/office/drawing/2014/main" id="{D95D08EF-72FB-4F19-9916-65815A9CA99C}"/>
              </a:ext>
            </a:extLst>
          </p:cNvPr>
          <p:cNvSpPr>
            <a:spLocks noGrp="1"/>
          </p:cNvSpPr>
          <p:nvPr>
            <p:ph type="dt" sz="half" idx="2"/>
          </p:nvPr>
        </p:nvSpPr>
        <p:spPr>
          <a:xfrm>
            <a:off x="838200" y="6563001"/>
            <a:ext cx="2743200" cy="228600"/>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noProof="0" dirty="0"/>
              <a:t>8/6/20XX</a:t>
            </a:r>
          </a:p>
        </p:txBody>
      </p:sp>
      <p:sp>
        <p:nvSpPr>
          <p:cNvPr id="5" name="Footer Placeholder 4">
            <a:extLst>
              <a:ext uri="{FF2B5EF4-FFF2-40B4-BE49-F238E27FC236}">
                <a16:creationId xmlns:a16="http://schemas.microsoft.com/office/drawing/2014/main" id="{1365084D-BC85-4A55-BD80-93876AD10108}"/>
              </a:ext>
            </a:extLst>
          </p:cNvPr>
          <p:cNvSpPr>
            <a:spLocks noGrp="1"/>
          </p:cNvSpPr>
          <p:nvPr>
            <p:ph type="ftr" sz="quarter" idx="3"/>
          </p:nvPr>
        </p:nvSpPr>
        <p:spPr>
          <a:xfrm>
            <a:off x="4038600" y="6563001"/>
            <a:ext cx="4114800" cy="2286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45FDEF23-A140-4DD6-A0D0-A86BD4DF3404}"/>
              </a:ext>
            </a:extLst>
          </p:cNvPr>
          <p:cNvSpPr>
            <a:spLocks noGrp="1"/>
          </p:cNvSpPr>
          <p:nvPr>
            <p:ph type="sldNum" sz="quarter" idx="4"/>
          </p:nvPr>
        </p:nvSpPr>
        <p:spPr>
          <a:xfrm>
            <a:off x="9375912" y="6563001"/>
            <a:ext cx="2743200" cy="228600"/>
          </a:xfrm>
          <a:prstGeom prst="rect">
            <a:avLst/>
          </a:prstGeom>
        </p:spPr>
        <p:txBody>
          <a:bodyPr vert="horz" lIns="91440" tIns="45720" rIns="91440" bIns="45720" rtlCol="0" anchor="ctr"/>
          <a:lstStyle>
            <a:lvl1pPr algn="r">
              <a:defRPr sz="1200">
                <a:solidFill>
                  <a:schemeClr val="tx1">
                    <a:tint val="75000"/>
                  </a:schemeClr>
                </a:solidFill>
              </a:defRPr>
            </a:lvl1pPr>
          </a:lstStyle>
          <a:p>
            <a:fld id="{9EC71654-96A5-4280-94F3-931C61A9F92C}" type="slidenum">
              <a:rPr lang="en-US" noProof="0" smtClean="0"/>
              <a:t>‹#›</a:t>
            </a:fld>
            <a:endParaRPr lang="en-US" noProof="0" dirty="0"/>
          </a:p>
        </p:txBody>
      </p:sp>
    </p:spTree>
    <p:extLst>
      <p:ext uri="{BB962C8B-B14F-4D97-AF65-F5344CB8AC3E}">
        <p14:creationId xmlns:p14="http://schemas.microsoft.com/office/powerpoint/2010/main" val="2347082301"/>
      </p:ext>
    </p:extLst>
  </p:cSld>
  <p:clrMap bg1="lt1" tx1="dk1" bg2="lt2" tx2="dk2" accent1="accent1" accent2="accent2" accent3="accent3" accent4="accent4" accent5="accent5" accent6="accent6" hlink="hlink" folHlink="folHlink"/>
  <p:sldLayoutIdLst>
    <p:sldLayoutId id="2147483649"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hdr="0" ftr="0" dt="0"/>
  <p:txStyles>
    <p:title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4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EF7BD-FE81-4B20-8DC5-0B3EB736F9F8}"/>
              </a:ext>
            </a:extLst>
          </p:cNvPr>
          <p:cNvSpPr>
            <a:spLocks noGrp="1"/>
          </p:cNvSpPr>
          <p:nvPr>
            <p:ph type="ctrTitle"/>
          </p:nvPr>
        </p:nvSpPr>
        <p:spPr>
          <a:xfrm>
            <a:off x="612648" y="502920"/>
            <a:ext cx="10954512" cy="3246120"/>
          </a:xfrm>
        </p:spPr>
        <p:txBody>
          <a:bodyPr anchor="b"/>
          <a:lstStyle/>
          <a:p>
            <a:r>
              <a:rPr lang="en-US" dirty="0"/>
              <a:t>Intro To AI</a:t>
            </a:r>
          </a:p>
        </p:txBody>
      </p:sp>
      <p:sp>
        <p:nvSpPr>
          <p:cNvPr id="3" name="Subtitle 2">
            <a:extLst>
              <a:ext uri="{FF2B5EF4-FFF2-40B4-BE49-F238E27FC236}">
                <a16:creationId xmlns:a16="http://schemas.microsoft.com/office/drawing/2014/main" id="{1AFF0EFE-C50F-44EB-8978-B97795477C9E}"/>
              </a:ext>
            </a:extLst>
          </p:cNvPr>
          <p:cNvSpPr>
            <a:spLocks noGrp="1"/>
          </p:cNvSpPr>
          <p:nvPr>
            <p:ph type="subTitle" idx="1"/>
          </p:nvPr>
        </p:nvSpPr>
        <p:spPr>
          <a:xfrm>
            <a:off x="612648" y="3758183"/>
            <a:ext cx="10954512" cy="1307592"/>
          </a:xfrm>
        </p:spPr>
        <p:txBody>
          <a:bodyPr vert="horz" lIns="91440" tIns="45720" rIns="91440" bIns="45720" rtlCol="0" anchor="t">
            <a:noAutofit/>
          </a:bodyPr>
          <a:lstStyle/>
          <a:p>
            <a:r>
              <a:rPr lang="en-US" dirty="0"/>
              <a:t>Sheet 2</a:t>
            </a:r>
          </a:p>
          <a:p>
            <a:r>
              <a:rPr lang="en-US" dirty="0"/>
              <a:t>Abdulrahman </a:t>
            </a:r>
            <a:r>
              <a:rPr lang="en-US" dirty="0" err="1"/>
              <a:t>ElMadkhoum</a:t>
            </a:r>
            <a:r>
              <a:rPr lang="en-US" dirty="0"/>
              <a:t> </a:t>
            </a:r>
          </a:p>
        </p:txBody>
      </p:sp>
    </p:spTree>
    <p:extLst>
      <p:ext uri="{BB962C8B-B14F-4D97-AF65-F5344CB8AC3E}">
        <p14:creationId xmlns:p14="http://schemas.microsoft.com/office/powerpoint/2010/main" val="128263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D8154CD-015D-BA44-62BA-A0E463A96C12}"/>
              </a:ext>
            </a:extLst>
          </p:cNvPr>
          <p:cNvSpPr txBox="1">
            <a:spLocks/>
          </p:cNvSpPr>
          <p:nvPr/>
        </p:nvSpPr>
        <p:spPr>
          <a:xfrm>
            <a:off x="469656" y="-144929"/>
            <a:ext cx="10277856" cy="1655064"/>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US" dirty="0"/>
              <a:t>Q.1) Describe the following terms</a:t>
            </a:r>
            <a:br>
              <a:rPr lang="en-GB" dirty="0"/>
            </a:br>
            <a:endParaRPr lang="en-US" dirty="0"/>
          </a:p>
        </p:txBody>
      </p:sp>
      <p:sp>
        <p:nvSpPr>
          <p:cNvPr id="15" name="Content Placeholder 2">
            <a:extLst>
              <a:ext uri="{FF2B5EF4-FFF2-40B4-BE49-F238E27FC236}">
                <a16:creationId xmlns:a16="http://schemas.microsoft.com/office/drawing/2014/main" id="{04FCD4D9-5651-8F83-BFE7-0E655A71E488}"/>
              </a:ext>
            </a:extLst>
          </p:cNvPr>
          <p:cNvSpPr txBox="1">
            <a:spLocks/>
          </p:cNvSpPr>
          <p:nvPr/>
        </p:nvSpPr>
        <p:spPr>
          <a:xfrm>
            <a:off x="469656" y="1012952"/>
            <a:ext cx="10665704" cy="2858008"/>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a. State Space Graph:</a:t>
            </a:r>
            <a:r>
              <a:rPr lang="en-GB" dirty="0"/>
              <a:t> A directed graph </a:t>
            </a:r>
            <a:r>
              <a:rPr lang="en-GB" b="1" i="1" dirty="0"/>
              <a:t>(V, E) </a:t>
            </a:r>
            <a:r>
              <a:rPr lang="en-GB" dirty="0"/>
              <a:t>where the set of vertices </a:t>
            </a:r>
            <a:r>
              <a:rPr lang="en-GB" b="1" i="1" dirty="0"/>
              <a:t>V</a:t>
            </a:r>
            <a:r>
              <a:rPr lang="en-GB" dirty="0"/>
              <a:t> represents all valid configurations (states) of a problem, and the directed edges </a:t>
            </a:r>
            <a:r>
              <a:rPr lang="en-GB" b="1" i="1" dirty="0"/>
              <a:t>E </a:t>
            </a:r>
            <a:r>
              <a:rPr lang="en-GB" dirty="0"/>
              <a:t>correspond to valid operators/actions that transition the system from one state to another.</a:t>
            </a:r>
          </a:p>
          <a:p>
            <a:r>
              <a:rPr lang="en-GB" b="1" dirty="0"/>
              <a:t>b. Exhaustive Search:</a:t>
            </a:r>
            <a:r>
              <a:rPr lang="en-GB" dirty="0"/>
              <a:t> An unguided, brute-force search strategy (such as Breadth-First Search or Depth-First Search) that systematically evaluates every single node in a state space until a solution is found or the entire space has been traversed.</a:t>
            </a:r>
          </a:p>
          <a:p>
            <a:r>
              <a:rPr lang="en-GB" b="1" dirty="0"/>
              <a:t>c. Heuristics:</a:t>
            </a:r>
            <a:r>
              <a:rPr lang="en-GB" dirty="0"/>
              <a:t> Problem-specific criteria or rules-of-thumb that estimate the remaining cost from a given state to a goal node. They are used to guide a search algorithm down paths that are more likely to lead to an optimal solution quickly.</a:t>
            </a:r>
          </a:p>
          <a:p>
            <a:r>
              <a:rPr lang="en-GB" b="1" dirty="0"/>
              <a:t>d. Path:</a:t>
            </a:r>
            <a:r>
              <a:rPr lang="en-GB" dirty="0"/>
              <a:t> An ordered sequence of states </a:t>
            </a:r>
            <a:r>
              <a:rPr lang="en-GB" b="1" i="1" dirty="0"/>
              <a:t>(s</a:t>
            </a:r>
            <a:r>
              <a:rPr lang="en-GB" b="1" i="1" baseline="-25000" dirty="0"/>
              <a:t>0 </a:t>
            </a:r>
            <a:r>
              <a:rPr lang="en-GB" b="1" i="1" dirty="0"/>
              <a:t>, s</a:t>
            </a:r>
            <a:r>
              <a:rPr lang="en-GB" b="1" i="1" baseline="-25000" dirty="0"/>
              <a:t>1 </a:t>
            </a:r>
            <a:r>
              <a:rPr lang="en-GB" b="1" i="1" dirty="0"/>
              <a:t>, s</a:t>
            </a:r>
            <a:r>
              <a:rPr lang="en-GB" b="1" i="1" baseline="-25000" dirty="0"/>
              <a:t>2 </a:t>
            </a:r>
            <a:r>
              <a:rPr lang="en-GB" b="1" i="1" dirty="0"/>
              <a:t>, ….., </a:t>
            </a:r>
            <a:r>
              <a:rPr lang="en-GB" b="1" i="1" dirty="0" err="1"/>
              <a:t>s</a:t>
            </a:r>
            <a:r>
              <a:rPr lang="en-GB" b="1" i="1" baseline="-25000" dirty="0" err="1"/>
              <a:t>n</a:t>
            </a:r>
            <a:r>
              <a:rPr lang="en-GB" b="1" i="1" dirty="0"/>
              <a:t>)</a:t>
            </a:r>
            <a:r>
              <a:rPr lang="en-GB" dirty="0"/>
              <a:t> such that for each</a:t>
            </a:r>
            <a:r>
              <a:rPr lang="en-GB" b="1" i="1" dirty="0"/>
              <a:t> </a:t>
            </a:r>
            <a:r>
              <a:rPr lang="en-GB" b="1" i="1" dirty="0" err="1"/>
              <a:t>i</a:t>
            </a:r>
            <a:r>
              <a:rPr lang="en-GB" dirty="0"/>
              <a:t>, there exists a legal operator that transitions the system from state </a:t>
            </a:r>
            <a:r>
              <a:rPr lang="en-GB" b="1" i="1" dirty="0" err="1"/>
              <a:t>s</a:t>
            </a:r>
            <a:r>
              <a:rPr lang="en-GB" b="1" i="1" baseline="-25000" dirty="0" err="1"/>
              <a:t>i</a:t>
            </a:r>
            <a:r>
              <a:rPr lang="en-GB" dirty="0"/>
              <a:t> to </a:t>
            </a:r>
            <a:r>
              <a:rPr lang="en-GB" b="1" i="1" dirty="0"/>
              <a:t>s</a:t>
            </a:r>
            <a:r>
              <a:rPr lang="en-GB" b="1" i="1" baseline="-25000" dirty="0"/>
              <a:t>i+1</a:t>
            </a:r>
            <a:r>
              <a:rPr lang="en-GB" b="1" i="1" dirty="0"/>
              <a:t>. </a:t>
            </a:r>
            <a:r>
              <a:rPr lang="en-GB" b="1" i="1" baseline="-25000" dirty="0"/>
              <a:t> </a:t>
            </a:r>
            <a:endParaRPr lang="en-GB" dirty="0"/>
          </a:p>
          <a:p>
            <a:r>
              <a:rPr lang="en-GB" b="1" dirty="0"/>
              <a:t>e. Rooted Graph:</a:t>
            </a:r>
            <a:r>
              <a:rPr lang="en-GB" dirty="0"/>
              <a:t> A graph structure that designates a specific, prominent node </a:t>
            </a:r>
            <a:r>
              <a:rPr lang="en-GB" b="1" i="1" dirty="0"/>
              <a:t>s</a:t>
            </a:r>
            <a:r>
              <a:rPr lang="en-GB" b="1" i="1" baseline="-25000" dirty="0"/>
              <a:t>0 </a:t>
            </a:r>
            <a:r>
              <a:rPr lang="en-GB" dirty="0"/>
              <a:t>as the starting node (root), from which all other reachable states in the state space graph are evaluated.</a:t>
            </a:r>
          </a:p>
          <a:p>
            <a:r>
              <a:rPr lang="en-GB" b="1" dirty="0"/>
              <a:t>f. Tree:</a:t>
            </a:r>
            <a:r>
              <a:rPr lang="en-GB" dirty="0"/>
              <a:t> A specialized type of connected graph containing no cycles, meaning there is exactly one unique path between any two vertices in the structure.</a:t>
            </a:r>
          </a:p>
        </p:txBody>
      </p:sp>
      <p:sp>
        <p:nvSpPr>
          <p:cNvPr id="16" name="Slide Number Placeholder 9">
            <a:extLst>
              <a:ext uri="{FF2B5EF4-FFF2-40B4-BE49-F238E27FC236}">
                <a16:creationId xmlns:a16="http://schemas.microsoft.com/office/drawing/2014/main" id="{78807FB1-EC35-D61F-547D-304775123039}"/>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2</a:t>
            </a:fld>
            <a:endParaRPr lang="en-US" dirty="0"/>
          </a:p>
        </p:txBody>
      </p:sp>
    </p:spTree>
    <p:extLst>
      <p:ext uri="{BB962C8B-B14F-4D97-AF65-F5344CB8AC3E}">
        <p14:creationId xmlns:p14="http://schemas.microsoft.com/office/powerpoint/2010/main" val="2737241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261D6C69-3121-4B81-4BC6-F6110C455F59}"/>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37E46974-03FC-EFC1-333C-C17B2788F36A}"/>
              </a:ext>
            </a:extLst>
          </p:cNvPr>
          <p:cNvSpPr txBox="1">
            <a:spLocks/>
          </p:cNvSpPr>
          <p:nvPr/>
        </p:nvSpPr>
        <p:spPr>
          <a:xfrm>
            <a:off x="469656" y="-144929"/>
            <a:ext cx="10277856" cy="1655064"/>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GB" dirty="0"/>
              <a:t>Question 2: Describe using drawing the Königsberg problem "Euler Tour."</a:t>
            </a:r>
            <a:endParaRPr lang="en-US" dirty="0"/>
          </a:p>
        </p:txBody>
      </p:sp>
      <p:sp>
        <p:nvSpPr>
          <p:cNvPr id="15" name="Content Placeholder 2">
            <a:extLst>
              <a:ext uri="{FF2B5EF4-FFF2-40B4-BE49-F238E27FC236}">
                <a16:creationId xmlns:a16="http://schemas.microsoft.com/office/drawing/2014/main" id="{7849DC4D-8AD1-D631-FD69-4B5182F19A1D}"/>
              </a:ext>
            </a:extLst>
          </p:cNvPr>
          <p:cNvSpPr txBox="1">
            <a:spLocks/>
          </p:cNvSpPr>
          <p:nvPr/>
        </p:nvSpPr>
        <p:spPr>
          <a:xfrm>
            <a:off x="469656" y="1653032"/>
            <a:ext cx="10665704" cy="2858008"/>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The ancient town of Königsberg was divided into four land masses by the river Pregel. Seven bridges connected these land masses. The people of Königsberg created a game to find a path that would allow them to walk all over the town crossing the seven bridges exactly once. This problem came to be known as the Seven Bridges of Königsberg. </a:t>
            </a:r>
          </a:p>
          <a:p>
            <a:r>
              <a:rPr lang="en-GB" dirty="0"/>
              <a:t>The people of Königsberg liked to walk around the city. They created a game among themselves- </a:t>
            </a:r>
            <a:r>
              <a:rPr lang="en-GB" b="1" i="1" dirty="0"/>
              <a:t>Find a path that would allow them to cover all four regions using the seven bridges but - each bridge should be crossed exactly once</a:t>
            </a:r>
            <a:r>
              <a:rPr lang="en-GB" b="1" dirty="0"/>
              <a:t>. </a:t>
            </a:r>
            <a:endParaRPr lang="en-GB" dirty="0"/>
          </a:p>
        </p:txBody>
      </p:sp>
      <p:sp>
        <p:nvSpPr>
          <p:cNvPr id="16" name="Slide Number Placeholder 9">
            <a:extLst>
              <a:ext uri="{FF2B5EF4-FFF2-40B4-BE49-F238E27FC236}">
                <a16:creationId xmlns:a16="http://schemas.microsoft.com/office/drawing/2014/main" id="{967EB1E4-47A4-24BE-FCD5-9A0F8A8DAB71}"/>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3</a:t>
            </a:fld>
            <a:endParaRPr lang="en-US" dirty="0"/>
          </a:p>
        </p:txBody>
      </p:sp>
      <p:pic>
        <p:nvPicPr>
          <p:cNvPr id="3" name="Picture 2">
            <a:extLst>
              <a:ext uri="{FF2B5EF4-FFF2-40B4-BE49-F238E27FC236}">
                <a16:creationId xmlns:a16="http://schemas.microsoft.com/office/drawing/2014/main" id="{853B8430-CD0B-8252-1A9C-FFB8B420C645}"/>
              </a:ext>
            </a:extLst>
          </p:cNvPr>
          <p:cNvPicPr>
            <a:picLocks noChangeAspect="1"/>
          </p:cNvPicPr>
          <p:nvPr/>
        </p:nvPicPr>
        <p:blipFill>
          <a:blip r:embed="rId2"/>
          <a:stretch>
            <a:fillRect/>
          </a:stretch>
        </p:blipFill>
        <p:spPr>
          <a:xfrm>
            <a:off x="6586631" y="3453772"/>
            <a:ext cx="4160881" cy="3109229"/>
          </a:xfrm>
          <a:prstGeom prst="rect">
            <a:avLst/>
          </a:prstGeom>
        </p:spPr>
      </p:pic>
    </p:spTree>
    <p:extLst>
      <p:ext uri="{BB962C8B-B14F-4D97-AF65-F5344CB8AC3E}">
        <p14:creationId xmlns:p14="http://schemas.microsoft.com/office/powerpoint/2010/main" val="2672963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46DD86B3-63A9-2D50-6FEC-99F06D2E7B43}"/>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0F65006F-F1A4-EF07-7FCC-643217664FB3}"/>
              </a:ext>
            </a:extLst>
          </p:cNvPr>
          <p:cNvSpPr txBox="1">
            <a:spLocks/>
          </p:cNvSpPr>
          <p:nvPr/>
        </p:nvSpPr>
        <p:spPr>
          <a:xfrm>
            <a:off x="469656" y="700024"/>
            <a:ext cx="10277856" cy="1655064"/>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GB" sz="3600" dirty="0"/>
              <a:t>Question 3: Determine whether goal-driven or data-driven search would be preferable for solving each of the following problems.</a:t>
            </a:r>
          </a:p>
          <a:p>
            <a:r>
              <a:rPr lang="en-GB" sz="3600" dirty="0"/>
              <a:t>Justify your answer.</a:t>
            </a:r>
            <a:endParaRPr lang="en-US" sz="3600" dirty="0"/>
          </a:p>
        </p:txBody>
      </p:sp>
      <p:sp>
        <p:nvSpPr>
          <p:cNvPr id="15" name="Content Placeholder 2">
            <a:extLst>
              <a:ext uri="{FF2B5EF4-FFF2-40B4-BE49-F238E27FC236}">
                <a16:creationId xmlns:a16="http://schemas.microsoft.com/office/drawing/2014/main" id="{D62A7961-624B-C943-DD7A-BAF4690F754B}"/>
              </a:ext>
            </a:extLst>
          </p:cNvPr>
          <p:cNvSpPr txBox="1">
            <a:spLocks/>
          </p:cNvSpPr>
          <p:nvPr/>
        </p:nvSpPr>
        <p:spPr>
          <a:xfrm>
            <a:off x="469656" y="2540000"/>
            <a:ext cx="10665704" cy="71120"/>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3.a. You have met a person who claims to be your distant cousin, with a common ancestor named John Doe. You would like to verify her claim.</a:t>
            </a:r>
          </a:p>
          <a:p>
            <a:r>
              <a:rPr lang="en-GB" b="1" dirty="0"/>
              <a:t>Preference:</a:t>
            </a:r>
            <a:r>
              <a:rPr lang="en-GB" dirty="0"/>
              <a:t> </a:t>
            </a:r>
            <a:r>
              <a:rPr lang="en-GB" b="1" dirty="0"/>
              <a:t>Goal-Driven Search (Backward Chaining).</a:t>
            </a:r>
            <a:endParaRPr lang="en-GB" dirty="0"/>
          </a:p>
          <a:p>
            <a:r>
              <a:rPr lang="en-GB" b="1" dirty="0"/>
              <a:t>Justification:</a:t>
            </a:r>
            <a:r>
              <a:rPr lang="en-GB" dirty="0"/>
              <a:t> You start with a specific target hypothesis: "John Doe is our common ancestor." You can track the family lineage backward from both you and your cousin to see if they meet at John Doe, narrowing the search space compared to tracking every descendant from a broad set of family data.</a:t>
            </a:r>
          </a:p>
          <a:p>
            <a:endParaRPr lang="en-GB" b="1" dirty="0"/>
          </a:p>
        </p:txBody>
      </p:sp>
      <p:sp>
        <p:nvSpPr>
          <p:cNvPr id="16" name="Slide Number Placeholder 9">
            <a:extLst>
              <a:ext uri="{FF2B5EF4-FFF2-40B4-BE49-F238E27FC236}">
                <a16:creationId xmlns:a16="http://schemas.microsoft.com/office/drawing/2014/main" id="{8A882655-3DFF-DA9C-36C1-36A6B80B48E6}"/>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4</a:t>
            </a:fld>
            <a:endParaRPr lang="en-US" dirty="0"/>
          </a:p>
        </p:txBody>
      </p:sp>
    </p:spTree>
    <p:extLst>
      <p:ext uri="{BB962C8B-B14F-4D97-AF65-F5344CB8AC3E}">
        <p14:creationId xmlns:p14="http://schemas.microsoft.com/office/powerpoint/2010/main" val="3304775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B6E38013-7224-3E92-9B0E-B25E548D25DC}"/>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21BA8845-1B66-A734-D7A1-B0E076FB060A}"/>
              </a:ext>
            </a:extLst>
          </p:cNvPr>
          <p:cNvSpPr txBox="1">
            <a:spLocks/>
          </p:cNvSpPr>
          <p:nvPr/>
        </p:nvSpPr>
        <p:spPr>
          <a:xfrm>
            <a:off x="469656" y="700024"/>
            <a:ext cx="10277856" cy="1655064"/>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GB" sz="3600" dirty="0"/>
              <a:t>Question 3: Determine whether goal-driven or data-driven search would be preferable for solving each of the following problems.</a:t>
            </a:r>
          </a:p>
          <a:p>
            <a:r>
              <a:rPr lang="en-GB" sz="3600" dirty="0"/>
              <a:t>Justify your answer.</a:t>
            </a:r>
            <a:endParaRPr lang="en-US" sz="3600" dirty="0"/>
          </a:p>
        </p:txBody>
      </p:sp>
      <p:sp>
        <p:nvSpPr>
          <p:cNvPr id="15" name="Content Placeholder 2">
            <a:extLst>
              <a:ext uri="{FF2B5EF4-FFF2-40B4-BE49-F238E27FC236}">
                <a16:creationId xmlns:a16="http://schemas.microsoft.com/office/drawing/2014/main" id="{5E426336-38A5-E86B-511D-7B83BC56DC56}"/>
              </a:ext>
            </a:extLst>
          </p:cNvPr>
          <p:cNvSpPr txBox="1">
            <a:spLocks/>
          </p:cNvSpPr>
          <p:nvPr/>
        </p:nvSpPr>
        <p:spPr>
          <a:xfrm>
            <a:off x="469656" y="2540000"/>
            <a:ext cx="10665704" cy="71120"/>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3.b. Another person claims to be your distant cousin. He doesn't know the common ancestor's name but knows that it was no more than eight generations back. You would like to either find this ancestor or determine that she didn't exist. </a:t>
            </a:r>
          </a:p>
          <a:p>
            <a:r>
              <a:rPr lang="en-GB" b="1" dirty="0"/>
              <a:t>Preference:</a:t>
            </a:r>
            <a:r>
              <a:rPr lang="en-GB" dirty="0"/>
              <a:t> </a:t>
            </a:r>
            <a:r>
              <a:rPr lang="en-GB" b="1" dirty="0"/>
              <a:t>Data-Driven Search (Forward Chaining).</a:t>
            </a:r>
            <a:endParaRPr lang="en-GB" dirty="0"/>
          </a:p>
          <a:p>
            <a:r>
              <a:rPr lang="en-GB" b="1" dirty="0"/>
              <a:t>Justification:</a:t>
            </a:r>
            <a:r>
              <a:rPr lang="en-GB" dirty="0"/>
              <a:t> Because the target ancestor's name is completely unknown, you cannot search backward from a specific goal. Instead, you must start with the known data points (you and the cousin) and step forward generation-by-generation through the family trees to find a match.</a:t>
            </a:r>
          </a:p>
          <a:p>
            <a:endParaRPr lang="en-GB" b="1" dirty="0"/>
          </a:p>
        </p:txBody>
      </p:sp>
      <p:sp>
        <p:nvSpPr>
          <p:cNvPr id="16" name="Slide Number Placeholder 9">
            <a:extLst>
              <a:ext uri="{FF2B5EF4-FFF2-40B4-BE49-F238E27FC236}">
                <a16:creationId xmlns:a16="http://schemas.microsoft.com/office/drawing/2014/main" id="{B0562D74-49F7-52DA-BF3D-11CEE1CF7694}"/>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5</a:t>
            </a:fld>
            <a:endParaRPr lang="en-US" dirty="0"/>
          </a:p>
        </p:txBody>
      </p:sp>
    </p:spTree>
    <p:extLst>
      <p:ext uri="{BB962C8B-B14F-4D97-AF65-F5344CB8AC3E}">
        <p14:creationId xmlns:p14="http://schemas.microsoft.com/office/powerpoint/2010/main" val="2418754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4632DEBD-A938-3283-37BA-FFB34A6AD188}"/>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EE5370F2-249D-41CB-689A-6D3682476EE4}"/>
              </a:ext>
            </a:extLst>
          </p:cNvPr>
          <p:cNvSpPr txBox="1">
            <a:spLocks/>
          </p:cNvSpPr>
          <p:nvPr/>
        </p:nvSpPr>
        <p:spPr>
          <a:xfrm>
            <a:off x="469656" y="700024"/>
            <a:ext cx="10277856" cy="1655064"/>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GB" sz="3600" dirty="0"/>
              <a:t>Question 3: Determine whether goal-driven or data-driven search would be preferable for solving each of the following problems.</a:t>
            </a:r>
          </a:p>
          <a:p>
            <a:r>
              <a:rPr lang="en-GB" sz="3600" dirty="0"/>
              <a:t>Justify your answer.</a:t>
            </a:r>
            <a:endParaRPr lang="en-US" sz="3600" dirty="0"/>
          </a:p>
        </p:txBody>
      </p:sp>
      <p:sp>
        <p:nvSpPr>
          <p:cNvPr id="15" name="Content Placeholder 2">
            <a:extLst>
              <a:ext uri="{FF2B5EF4-FFF2-40B4-BE49-F238E27FC236}">
                <a16:creationId xmlns:a16="http://schemas.microsoft.com/office/drawing/2014/main" id="{562224CD-5413-CA03-CAC3-D88C35AC3554}"/>
              </a:ext>
            </a:extLst>
          </p:cNvPr>
          <p:cNvSpPr txBox="1">
            <a:spLocks/>
          </p:cNvSpPr>
          <p:nvPr/>
        </p:nvSpPr>
        <p:spPr>
          <a:xfrm>
            <a:off x="469656" y="2540000"/>
            <a:ext cx="10665704" cy="71120"/>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3.c. A theorem prover for plane geometry. </a:t>
            </a:r>
          </a:p>
          <a:p>
            <a:r>
              <a:rPr lang="en-GB" b="1" dirty="0"/>
              <a:t>Preference:</a:t>
            </a:r>
            <a:r>
              <a:rPr lang="en-GB" dirty="0"/>
              <a:t> </a:t>
            </a:r>
            <a:r>
              <a:rPr lang="en-GB" b="1" dirty="0"/>
              <a:t>Goal-Driven Search (Backward Chaining).</a:t>
            </a:r>
            <a:endParaRPr lang="en-GB" dirty="0"/>
          </a:p>
          <a:p>
            <a:r>
              <a:rPr lang="en-GB" b="1" dirty="0"/>
              <a:t>Justification:</a:t>
            </a:r>
            <a:r>
              <a:rPr lang="en-GB" dirty="0"/>
              <a:t> Geometry proofs usually give you a specific statement to prove (the goal). Searching backward from that target statement to find the required axioms or lemmas helps keep the search focused, avoiding the massive number of irrelevant statements generated when mixing random geometric axioms forward.</a:t>
            </a:r>
          </a:p>
          <a:p>
            <a:endParaRPr lang="en-GB" b="1" dirty="0"/>
          </a:p>
        </p:txBody>
      </p:sp>
      <p:sp>
        <p:nvSpPr>
          <p:cNvPr id="16" name="Slide Number Placeholder 9">
            <a:extLst>
              <a:ext uri="{FF2B5EF4-FFF2-40B4-BE49-F238E27FC236}">
                <a16:creationId xmlns:a16="http://schemas.microsoft.com/office/drawing/2014/main" id="{C1B01D4F-9168-2174-73BE-776F3AC86773}"/>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6</a:t>
            </a:fld>
            <a:endParaRPr lang="en-US" dirty="0"/>
          </a:p>
        </p:txBody>
      </p:sp>
    </p:spTree>
    <p:extLst>
      <p:ext uri="{BB962C8B-B14F-4D97-AF65-F5344CB8AC3E}">
        <p14:creationId xmlns:p14="http://schemas.microsoft.com/office/powerpoint/2010/main" val="3838568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70243E30-72CB-ACF9-3058-5843ED9D56A3}"/>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8481C146-F01B-482C-A0D8-7059C56229D5}"/>
              </a:ext>
            </a:extLst>
          </p:cNvPr>
          <p:cNvSpPr txBox="1">
            <a:spLocks/>
          </p:cNvSpPr>
          <p:nvPr/>
        </p:nvSpPr>
        <p:spPr>
          <a:xfrm>
            <a:off x="469656" y="181864"/>
            <a:ext cx="10277856" cy="1655064"/>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GB" sz="3600" dirty="0"/>
              <a:t>4.a. Discuss briefly the techniques used to reduce the search complexity when solving the Traveling Salesman Problem.</a:t>
            </a:r>
            <a:endParaRPr lang="en-US" sz="3600" dirty="0"/>
          </a:p>
        </p:txBody>
      </p:sp>
      <p:sp>
        <p:nvSpPr>
          <p:cNvPr id="15" name="Content Placeholder 2">
            <a:extLst>
              <a:ext uri="{FF2B5EF4-FFF2-40B4-BE49-F238E27FC236}">
                <a16:creationId xmlns:a16="http://schemas.microsoft.com/office/drawing/2014/main" id="{581DF424-1E3B-FA8C-E622-5F703974427A}"/>
              </a:ext>
            </a:extLst>
          </p:cNvPr>
          <p:cNvSpPr txBox="1">
            <a:spLocks/>
          </p:cNvSpPr>
          <p:nvPr/>
        </p:nvSpPr>
        <p:spPr>
          <a:xfrm>
            <a:off x="469656" y="2021840"/>
            <a:ext cx="10665704" cy="71120"/>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Given n cities with known distances between each pair, find the shortest tour that passes through all the cities exactly once before returning to the starting city</a:t>
            </a:r>
            <a:endParaRPr lang="en-GB" b="1" dirty="0"/>
          </a:p>
        </p:txBody>
      </p:sp>
      <p:sp>
        <p:nvSpPr>
          <p:cNvPr id="16" name="Slide Number Placeholder 9">
            <a:extLst>
              <a:ext uri="{FF2B5EF4-FFF2-40B4-BE49-F238E27FC236}">
                <a16:creationId xmlns:a16="http://schemas.microsoft.com/office/drawing/2014/main" id="{E5B6E729-52CD-643C-E9F2-1AF966450B9C}"/>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7</a:t>
            </a:fld>
            <a:endParaRPr lang="en-US" dirty="0"/>
          </a:p>
        </p:txBody>
      </p:sp>
      <p:pic>
        <p:nvPicPr>
          <p:cNvPr id="3" name="Picture 2">
            <a:extLst>
              <a:ext uri="{FF2B5EF4-FFF2-40B4-BE49-F238E27FC236}">
                <a16:creationId xmlns:a16="http://schemas.microsoft.com/office/drawing/2014/main" id="{67333534-3243-D706-E905-B02313A96095}"/>
              </a:ext>
            </a:extLst>
          </p:cNvPr>
          <p:cNvPicPr>
            <a:picLocks noChangeAspect="1"/>
          </p:cNvPicPr>
          <p:nvPr/>
        </p:nvPicPr>
        <p:blipFill>
          <a:blip r:embed="rId2"/>
          <a:stretch>
            <a:fillRect/>
          </a:stretch>
        </p:blipFill>
        <p:spPr>
          <a:xfrm>
            <a:off x="8474618" y="2407574"/>
            <a:ext cx="2110923" cy="1920406"/>
          </a:xfrm>
          <a:prstGeom prst="rect">
            <a:avLst/>
          </a:prstGeom>
        </p:spPr>
      </p:pic>
      <p:pic>
        <p:nvPicPr>
          <p:cNvPr id="5" name="Picture 4">
            <a:extLst>
              <a:ext uri="{FF2B5EF4-FFF2-40B4-BE49-F238E27FC236}">
                <a16:creationId xmlns:a16="http://schemas.microsoft.com/office/drawing/2014/main" id="{AAF4DD39-ACD7-265D-AA20-D7384A3BA30F}"/>
              </a:ext>
            </a:extLst>
          </p:cNvPr>
          <p:cNvPicPr>
            <a:picLocks noChangeAspect="1"/>
          </p:cNvPicPr>
          <p:nvPr/>
        </p:nvPicPr>
        <p:blipFill>
          <a:blip r:embed="rId3"/>
          <a:stretch>
            <a:fillRect/>
          </a:stretch>
        </p:blipFill>
        <p:spPr>
          <a:xfrm>
            <a:off x="604343" y="2768815"/>
            <a:ext cx="6226080" cy="2606266"/>
          </a:xfrm>
          <a:prstGeom prst="rect">
            <a:avLst/>
          </a:prstGeom>
        </p:spPr>
      </p:pic>
    </p:spTree>
    <p:extLst>
      <p:ext uri="{BB962C8B-B14F-4D97-AF65-F5344CB8AC3E}">
        <p14:creationId xmlns:p14="http://schemas.microsoft.com/office/powerpoint/2010/main" val="2357314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E181F9C3-3F7A-73AD-5B08-DC0D7711F725}"/>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9DA425C3-8BA9-446C-9175-9664A8701D30}"/>
              </a:ext>
            </a:extLst>
          </p:cNvPr>
          <p:cNvSpPr txBox="1">
            <a:spLocks/>
          </p:cNvSpPr>
          <p:nvPr/>
        </p:nvSpPr>
        <p:spPr>
          <a:xfrm>
            <a:off x="469656" y="181864"/>
            <a:ext cx="10277856" cy="1655064"/>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GB" sz="3600" dirty="0"/>
              <a:t>4.a. Discuss briefly the techniques used to reduce the search complexity when solving the Traveling Salesman Problem.</a:t>
            </a:r>
            <a:endParaRPr lang="en-US" sz="3600" dirty="0"/>
          </a:p>
        </p:txBody>
      </p:sp>
      <p:sp>
        <p:nvSpPr>
          <p:cNvPr id="15" name="Content Placeholder 2">
            <a:extLst>
              <a:ext uri="{FF2B5EF4-FFF2-40B4-BE49-F238E27FC236}">
                <a16:creationId xmlns:a16="http://schemas.microsoft.com/office/drawing/2014/main" id="{564DD74D-43D6-6945-1403-6842E26DE970}"/>
              </a:ext>
            </a:extLst>
          </p:cNvPr>
          <p:cNvSpPr txBox="1">
            <a:spLocks/>
          </p:cNvSpPr>
          <p:nvPr/>
        </p:nvSpPr>
        <p:spPr>
          <a:xfrm>
            <a:off x="469656" y="2021840"/>
            <a:ext cx="10665704" cy="71120"/>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To control the </a:t>
            </a:r>
            <a:r>
              <a:rPr lang="en-GB" b="1" i="1" dirty="0"/>
              <a:t>O(n!) </a:t>
            </a:r>
            <a:r>
              <a:rPr lang="en-GB" dirty="0"/>
              <a:t>exponential growth of a brute-force TSP search space, we use the following techniques:</a:t>
            </a:r>
          </a:p>
          <a:p>
            <a:r>
              <a:rPr lang="en-GB" b="1" dirty="0"/>
              <a:t>Heuristics:</a:t>
            </a:r>
            <a:r>
              <a:rPr lang="en-GB" dirty="0"/>
              <a:t> Using greedy approaches like the </a:t>
            </a:r>
            <a:r>
              <a:rPr lang="en-GB" i="1" dirty="0"/>
              <a:t>Nearest </a:t>
            </a:r>
            <a:r>
              <a:rPr lang="en-GB" i="1" dirty="0" err="1"/>
              <a:t>Neighbor</a:t>
            </a:r>
            <a:r>
              <a:rPr lang="en-GB" dirty="0"/>
              <a:t> heuristic or </a:t>
            </a:r>
            <a:r>
              <a:rPr lang="en-GB" i="1" dirty="0"/>
              <a:t>Minimum Spanning Tree (MST)</a:t>
            </a:r>
            <a:r>
              <a:rPr lang="en-GB" dirty="0"/>
              <a:t> approximations to estimate the remaining travel distance.</a:t>
            </a:r>
          </a:p>
          <a:p>
            <a:r>
              <a:rPr lang="en-GB" b="1" dirty="0"/>
              <a:t>Branch and Bound:</a:t>
            </a:r>
            <a:r>
              <a:rPr lang="en-GB" dirty="0"/>
              <a:t> Branching out alternative paths while tracking the best complete tour found so far. If a partial path's cost exceeds this threshold, that entire branch is pruned.</a:t>
            </a:r>
          </a:p>
          <a:p>
            <a:r>
              <a:rPr lang="en-GB" b="1" dirty="0"/>
              <a:t>Dynamic Programming:</a:t>
            </a:r>
            <a:r>
              <a:rPr lang="en-GB" dirty="0"/>
              <a:t> Using the Held-Karp algorithm to reduce complexity to O(n</a:t>
            </a:r>
            <a:r>
              <a:rPr lang="en-GB" baseline="30000" dirty="0"/>
              <a:t>2</a:t>
            </a:r>
            <a:r>
              <a:rPr lang="en-GB" dirty="0"/>
              <a:t> * 2</a:t>
            </a:r>
            <a:r>
              <a:rPr lang="en-GB" baseline="30000" dirty="0"/>
              <a:t>n</a:t>
            </a:r>
            <a:r>
              <a:rPr lang="en-GB" dirty="0"/>
              <a:t>) by saving and reusing solutions to overlapping sub-problems.</a:t>
            </a:r>
          </a:p>
          <a:p>
            <a:endParaRPr lang="en-GB" b="1" dirty="0"/>
          </a:p>
        </p:txBody>
      </p:sp>
      <p:sp>
        <p:nvSpPr>
          <p:cNvPr id="16" name="Slide Number Placeholder 9">
            <a:extLst>
              <a:ext uri="{FF2B5EF4-FFF2-40B4-BE49-F238E27FC236}">
                <a16:creationId xmlns:a16="http://schemas.microsoft.com/office/drawing/2014/main" id="{BB6E8EE4-974D-98E2-60CF-F66CBE003004}"/>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8</a:t>
            </a:fld>
            <a:endParaRPr lang="en-US" dirty="0"/>
          </a:p>
        </p:txBody>
      </p:sp>
    </p:spTree>
    <p:extLst>
      <p:ext uri="{BB962C8B-B14F-4D97-AF65-F5344CB8AC3E}">
        <p14:creationId xmlns:p14="http://schemas.microsoft.com/office/powerpoint/2010/main" val="227537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9601FFAE-029B-53F0-FBF0-D1E95A719D13}"/>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C98EF256-776F-22F3-AE74-F7E5801D17F0}"/>
              </a:ext>
            </a:extLst>
          </p:cNvPr>
          <p:cNvSpPr txBox="1">
            <a:spLocks/>
          </p:cNvSpPr>
          <p:nvPr/>
        </p:nvSpPr>
        <p:spPr>
          <a:xfrm>
            <a:off x="469656" y="181864"/>
            <a:ext cx="10277856" cy="1655064"/>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GB" sz="3600" dirty="0"/>
              <a:t>4.b. The following is a problem which can be solved using state-space search techniques: </a:t>
            </a:r>
          </a:p>
          <a:p>
            <a:r>
              <a:rPr lang="en-GB" sz="3600" dirty="0"/>
              <a:t>The Cannibals and Missionaries problem:</a:t>
            </a:r>
            <a:endParaRPr lang="en-US" sz="2800" dirty="0"/>
          </a:p>
        </p:txBody>
      </p:sp>
      <p:sp>
        <p:nvSpPr>
          <p:cNvPr id="15" name="Content Placeholder 2">
            <a:extLst>
              <a:ext uri="{FF2B5EF4-FFF2-40B4-BE49-F238E27FC236}">
                <a16:creationId xmlns:a16="http://schemas.microsoft.com/office/drawing/2014/main" id="{CD41EBC1-F9A7-3DDF-DE43-13F69ADE0BAA}"/>
              </a:ext>
            </a:extLst>
          </p:cNvPr>
          <p:cNvSpPr txBox="1">
            <a:spLocks/>
          </p:cNvSpPr>
          <p:nvPr/>
        </p:nvSpPr>
        <p:spPr>
          <a:xfrm>
            <a:off x="469656" y="2021840"/>
            <a:ext cx="10665704" cy="71120"/>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The following is a problem which can be solved using state-space search techniques: The Cannibals and Missionaries problem: "Three cannibals and three missionaries come to a crocodile infested river. There is a boat on their side that can be used by either one or two persons. If cannibals outnumber the missionaries at any time, the cannibals eat the missionaries. How can they use the boat to cross the river so that all missionaries survive?" Formalize the problem in terms of state-space search.</a:t>
            </a:r>
          </a:p>
        </p:txBody>
      </p:sp>
      <p:sp>
        <p:nvSpPr>
          <p:cNvPr id="16" name="Slide Number Placeholder 9">
            <a:extLst>
              <a:ext uri="{FF2B5EF4-FFF2-40B4-BE49-F238E27FC236}">
                <a16:creationId xmlns:a16="http://schemas.microsoft.com/office/drawing/2014/main" id="{AF4783CB-84E4-3664-103D-986C66469F86}"/>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9</a:t>
            </a:fld>
            <a:endParaRPr lang="en-US" dirty="0"/>
          </a:p>
        </p:txBody>
      </p:sp>
      <p:pic>
        <p:nvPicPr>
          <p:cNvPr id="3" name="Picture 2">
            <a:extLst>
              <a:ext uri="{FF2B5EF4-FFF2-40B4-BE49-F238E27FC236}">
                <a16:creationId xmlns:a16="http://schemas.microsoft.com/office/drawing/2014/main" id="{B87032DE-27D0-BD72-79FD-7DE57F137FA3}"/>
              </a:ext>
            </a:extLst>
          </p:cNvPr>
          <p:cNvPicPr>
            <a:picLocks noChangeAspect="1"/>
          </p:cNvPicPr>
          <p:nvPr/>
        </p:nvPicPr>
        <p:blipFill>
          <a:blip r:embed="rId2"/>
          <a:stretch>
            <a:fillRect/>
          </a:stretch>
        </p:blipFill>
        <p:spPr>
          <a:xfrm>
            <a:off x="1874170" y="3712108"/>
            <a:ext cx="8077900" cy="2339543"/>
          </a:xfrm>
          <a:prstGeom prst="rect">
            <a:avLst/>
          </a:prstGeom>
        </p:spPr>
      </p:pic>
    </p:spTree>
    <p:extLst>
      <p:ext uri="{BB962C8B-B14F-4D97-AF65-F5344CB8AC3E}">
        <p14:creationId xmlns:p14="http://schemas.microsoft.com/office/powerpoint/2010/main" val="789626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8E6B2F30-99D9-E158-2BB2-5881D9F459D8}"/>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29AD2041-2ABA-745F-4F4A-84BD6CC59E09}"/>
              </a:ext>
            </a:extLst>
          </p:cNvPr>
          <p:cNvSpPr txBox="1">
            <a:spLocks/>
          </p:cNvSpPr>
          <p:nvPr/>
        </p:nvSpPr>
        <p:spPr>
          <a:xfrm>
            <a:off x="469656" y="181864"/>
            <a:ext cx="10277856" cy="1655064"/>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GB" sz="3600" dirty="0"/>
              <a:t>4.b. The following is a problem which can be solved using state-space search techniques: </a:t>
            </a:r>
          </a:p>
          <a:p>
            <a:r>
              <a:rPr lang="en-GB" sz="3600" dirty="0"/>
              <a:t>The Cannibals and Missionaries problem:</a:t>
            </a:r>
            <a:endParaRPr lang="en-US" sz="2800" dirty="0"/>
          </a:p>
        </p:txBody>
      </p:sp>
      <p:sp>
        <p:nvSpPr>
          <p:cNvPr id="15" name="Content Placeholder 2">
            <a:extLst>
              <a:ext uri="{FF2B5EF4-FFF2-40B4-BE49-F238E27FC236}">
                <a16:creationId xmlns:a16="http://schemas.microsoft.com/office/drawing/2014/main" id="{4B1E0BEA-1562-1778-FDA7-DF72F27E3B4D}"/>
              </a:ext>
            </a:extLst>
          </p:cNvPr>
          <p:cNvSpPr txBox="1">
            <a:spLocks/>
          </p:cNvSpPr>
          <p:nvPr/>
        </p:nvSpPr>
        <p:spPr>
          <a:xfrm>
            <a:off x="469656" y="2021840"/>
            <a:ext cx="10665704" cy="71120"/>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4.b.1 Suggest a suitable representation for the problem state.</a:t>
            </a:r>
          </a:p>
          <a:p>
            <a:r>
              <a:rPr lang="en-GB" dirty="0"/>
              <a:t>We represent the state as a tuple: </a:t>
            </a:r>
            <a:r>
              <a:rPr lang="en-GB" b="1" i="1" dirty="0"/>
              <a:t>(M, C, B)</a:t>
            </a:r>
            <a:r>
              <a:rPr lang="en-GB" dirty="0"/>
              <a:t>, where:</a:t>
            </a:r>
          </a:p>
          <a:p>
            <a:r>
              <a:rPr lang="en-GB" b="1" dirty="0"/>
              <a:t>M</a:t>
            </a:r>
            <a:r>
              <a:rPr lang="en-GB" dirty="0"/>
              <a:t>: Number of Missionaries on the </a:t>
            </a:r>
            <a:r>
              <a:rPr lang="en-GB" b="1" dirty="0"/>
              <a:t>Left (Initial) Bank</a:t>
            </a:r>
            <a:r>
              <a:rPr lang="en-GB" b="1" dirty="0">
                <a:sym typeface="Wingdings" panose="05000000000000000000" pitchFamily="2" charset="2"/>
              </a:rPr>
              <a:t></a:t>
            </a:r>
            <a:r>
              <a:rPr lang="en-GB" dirty="0"/>
              <a:t> </a:t>
            </a:r>
            <a:r>
              <a:rPr lang="en-GB" b="1" i="1" dirty="0"/>
              <a:t>{0, 1, 2, 3}</a:t>
            </a:r>
          </a:p>
          <a:p>
            <a:r>
              <a:rPr lang="en-GB" b="1" dirty="0"/>
              <a:t>C</a:t>
            </a:r>
            <a:r>
              <a:rPr lang="en-GB" dirty="0"/>
              <a:t>: Number of Cannibals on the </a:t>
            </a:r>
            <a:r>
              <a:rPr lang="en-GB" b="1" dirty="0"/>
              <a:t>Left (Initial) Bank</a:t>
            </a:r>
            <a:r>
              <a:rPr lang="en-GB" dirty="0"/>
              <a:t> </a:t>
            </a:r>
            <a:r>
              <a:rPr lang="en-GB" dirty="0">
                <a:sym typeface="Wingdings" panose="05000000000000000000" pitchFamily="2" charset="2"/>
              </a:rPr>
              <a:t> </a:t>
            </a:r>
            <a:r>
              <a:rPr lang="en-GB" b="1" i="1" dirty="0"/>
              <a:t>{0, 1, 2, 3}.</a:t>
            </a:r>
          </a:p>
          <a:p>
            <a:r>
              <a:rPr lang="en-GB" b="1" dirty="0"/>
              <a:t>B</a:t>
            </a:r>
            <a:r>
              <a:rPr lang="en-GB" dirty="0"/>
              <a:t>: Position of the boat </a:t>
            </a:r>
            <a:r>
              <a:rPr lang="en-GB" dirty="0">
                <a:sym typeface="Wingdings" panose="05000000000000000000" pitchFamily="2" charset="2"/>
              </a:rPr>
              <a:t></a:t>
            </a:r>
            <a:r>
              <a:rPr lang="en-GB" b="1" dirty="0"/>
              <a:t>1 (Left Bank), 0 (Right Bank).</a:t>
            </a:r>
          </a:p>
          <a:p>
            <a:r>
              <a:rPr lang="en-GB" dirty="0"/>
              <a:t>The quantities on the Right Bank are implicitly calculated as </a:t>
            </a:r>
            <a:r>
              <a:rPr lang="en-GB" b="1" dirty="0"/>
              <a:t>(3 - M) </a:t>
            </a:r>
            <a:r>
              <a:rPr lang="en-GB" dirty="0"/>
              <a:t>and </a:t>
            </a:r>
            <a:r>
              <a:rPr lang="en-GB" b="1" dirty="0"/>
              <a:t>(3 - C).</a:t>
            </a:r>
          </a:p>
          <a:p>
            <a:endParaRPr lang="en-GB" b="1" dirty="0"/>
          </a:p>
        </p:txBody>
      </p:sp>
      <p:sp>
        <p:nvSpPr>
          <p:cNvPr id="16" name="Slide Number Placeholder 9">
            <a:extLst>
              <a:ext uri="{FF2B5EF4-FFF2-40B4-BE49-F238E27FC236}">
                <a16:creationId xmlns:a16="http://schemas.microsoft.com/office/drawing/2014/main" id="{4144286C-7F43-97AD-FA0A-7ED0AA364DA7}"/>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10</a:t>
            </a:fld>
            <a:endParaRPr lang="en-US" dirty="0"/>
          </a:p>
        </p:txBody>
      </p:sp>
      <p:pic>
        <p:nvPicPr>
          <p:cNvPr id="3" name="Picture 2">
            <a:extLst>
              <a:ext uri="{FF2B5EF4-FFF2-40B4-BE49-F238E27FC236}">
                <a16:creationId xmlns:a16="http://schemas.microsoft.com/office/drawing/2014/main" id="{A1BF54C4-2A4A-2E30-E147-F7D98F85A50A}"/>
              </a:ext>
            </a:extLst>
          </p:cNvPr>
          <p:cNvPicPr>
            <a:picLocks noChangeAspect="1"/>
          </p:cNvPicPr>
          <p:nvPr/>
        </p:nvPicPr>
        <p:blipFill>
          <a:blip r:embed="rId2"/>
          <a:stretch>
            <a:fillRect/>
          </a:stretch>
        </p:blipFill>
        <p:spPr>
          <a:xfrm>
            <a:off x="549104" y="4460240"/>
            <a:ext cx="7101376" cy="2056720"/>
          </a:xfrm>
          <a:prstGeom prst="rect">
            <a:avLst/>
          </a:prstGeom>
        </p:spPr>
      </p:pic>
    </p:spTree>
    <p:extLst>
      <p:ext uri="{BB962C8B-B14F-4D97-AF65-F5344CB8AC3E}">
        <p14:creationId xmlns:p14="http://schemas.microsoft.com/office/powerpoint/2010/main" val="1264371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75C6B5A3-8876-C046-A3DC-26E962709758}"/>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BA21657C-3F9E-5BD9-6D8D-E71D414CF833}"/>
              </a:ext>
            </a:extLst>
          </p:cNvPr>
          <p:cNvSpPr txBox="1">
            <a:spLocks/>
          </p:cNvSpPr>
          <p:nvPr/>
        </p:nvSpPr>
        <p:spPr>
          <a:xfrm>
            <a:off x="469656" y="181864"/>
            <a:ext cx="10277856" cy="1655064"/>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GB" sz="3600" dirty="0"/>
              <a:t>4.b. The following is a problem which can be solved using state-space search techniques: </a:t>
            </a:r>
          </a:p>
          <a:p>
            <a:r>
              <a:rPr lang="en-GB" sz="3600" dirty="0"/>
              <a:t>The Cannibals and Missionaries problem:</a:t>
            </a:r>
            <a:endParaRPr lang="en-US" sz="2800" dirty="0"/>
          </a:p>
        </p:txBody>
      </p:sp>
      <p:sp>
        <p:nvSpPr>
          <p:cNvPr id="15" name="Content Placeholder 2">
            <a:extLst>
              <a:ext uri="{FF2B5EF4-FFF2-40B4-BE49-F238E27FC236}">
                <a16:creationId xmlns:a16="http://schemas.microsoft.com/office/drawing/2014/main" id="{C68AE9A3-7A42-7D4F-BEB4-204877630588}"/>
              </a:ext>
            </a:extLst>
          </p:cNvPr>
          <p:cNvSpPr txBox="1">
            <a:spLocks/>
          </p:cNvSpPr>
          <p:nvPr/>
        </p:nvSpPr>
        <p:spPr>
          <a:xfrm>
            <a:off x="469656" y="2021840"/>
            <a:ext cx="10665704" cy="71120"/>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4.b.2 State what the initial and final states are in this representation. </a:t>
            </a:r>
          </a:p>
          <a:p>
            <a:r>
              <a:rPr lang="en-GB" b="1" dirty="0"/>
              <a:t>Initial State (s</a:t>
            </a:r>
            <a:r>
              <a:rPr lang="en-GB" b="1" baseline="-25000" dirty="0"/>
              <a:t>0</a:t>
            </a:r>
            <a:r>
              <a:rPr lang="en-GB" b="1" dirty="0"/>
              <a:t>):</a:t>
            </a:r>
            <a:r>
              <a:rPr lang="en-GB" dirty="0"/>
              <a:t> </a:t>
            </a:r>
            <a:r>
              <a:rPr lang="en-GB" b="1" dirty="0"/>
              <a:t>(3, 3, 1) </a:t>
            </a:r>
            <a:r>
              <a:rPr lang="en-GB" dirty="0"/>
              <a:t>— All people and the boat are on the Left Bank.</a:t>
            </a:r>
          </a:p>
          <a:p>
            <a:r>
              <a:rPr lang="en-GB" b="1" dirty="0"/>
              <a:t>Final State (s</a:t>
            </a:r>
            <a:r>
              <a:rPr lang="en-GB" b="1" baseline="-25000" dirty="0"/>
              <a:t>g</a:t>
            </a:r>
            <a:r>
              <a:rPr lang="en-GB" b="1" dirty="0"/>
              <a:t>):</a:t>
            </a:r>
            <a:r>
              <a:rPr lang="en-GB" dirty="0"/>
              <a:t> </a:t>
            </a:r>
            <a:r>
              <a:rPr lang="en-GB" b="1" dirty="0"/>
              <a:t>(0, 0, 0) </a:t>
            </a:r>
            <a:r>
              <a:rPr lang="en-GB" dirty="0"/>
              <a:t>— All people and the boat are on the Right Bank.</a:t>
            </a:r>
          </a:p>
          <a:p>
            <a:endParaRPr lang="en-GB" b="1" dirty="0"/>
          </a:p>
        </p:txBody>
      </p:sp>
      <p:sp>
        <p:nvSpPr>
          <p:cNvPr id="16" name="Slide Number Placeholder 9">
            <a:extLst>
              <a:ext uri="{FF2B5EF4-FFF2-40B4-BE49-F238E27FC236}">
                <a16:creationId xmlns:a16="http://schemas.microsoft.com/office/drawing/2014/main" id="{8B1E4185-D7B9-F0A6-E7BA-A8C4D076D59C}"/>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11</a:t>
            </a:fld>
            <a:endParaRPr lang="en-US" dirty="0"/>
          </a:p>
        </p:txBody>
      </p:sp>
      <p:pic>
        <p:nvPicPr>
          <p:cNvPr id="4" name="Picture 3">
            <a:extLst>
              <a:ext uri="{FF2B5EF4-FFF2-40B4-BE49-F238E27FC236}">
                <a16:creationId xmlns:a16="http://schemas.microsoft.com/office/drawing/2014/main" id="{8F3D4243-79D0-D98D-5D1D-ABAACDA61880}"/>
              </a:ext>
            </a:extLst>
          </p:cNvPr>
          <p:cNvPicPr>
            <a:picLocks noChangeAspect="1"/>
          </p:cNvPicPr>
          <p:nvPr/>
        </p:nvPicPr>
        <p:blipFill>
          <a:blip r:embed="rId2"/>
          <a:stretch>
            <a:fillRect/>
          </a:stretch>
        </p:blipFill>
        <p:spPr>
          <a:xfrm>
            <a:off x="469656" y="4064000"/>
            <a:ext cx="7101376" cy="2056720"/>
          </a:xfrm>
          <a:prstGeom prst="rect">
            <a:avLst/>
          </a:prstGeom>
        </p:spPr>
      </p:pic>
    </p:spTree>
    <p:extLst>
      <p:ext uri="{BB962C8B-B14F-4D97-AF65-F5344CB8AC3E}">
        <p14:creationId xmlns:p14="http://schemas.microsoft.com/office/powerpoint/2010/main" val="58915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119513A2-697F-338B-8C17-C4D5BB1DBA07}"/>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D14DC20B-722E-1BD4-407F-01C69735CD62}"/>
              </a:ext>
            </a:extLst>
          </p:cNvPr>
          <p:cNvSpPr txBox="1">
            <a:spLocks/>
          </p:cNvSpPr>
          <p:nvPr/>
        </p:nvSpPr>
        <p:spPr>
          <a:xfrm>
            <a:off x="469656" y="181864"/>
            <a:ext cx="10277856" cy="1655064"/>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GB" sz="3600" dirty="0"/>
              <a:t>4.b. The following is a problem which can be solved using state-space search techniques: </a:t>
            </a:r>
          </a:p>
          <a:p>
            <a:r>
              <a:rPr lang="en-GB" sz="3600" dirty="0"/>
              <a:t>The Cannibals and Missionaries problem:</a:t>
            </a:r>
            <a:endParaRPr lang="en-US" sz="2800" dirty="0"/>
          </a:p>
        </p:txBody>
      </p:sp>
      <p:sp>
        <p:nvSpPr>
          <p:cNvPr id="15" name="Content Placeholder 2">
            <a:extLst>
              <a:ext uri="{FF2B5EF4-FFF2-40B4-BE49-F238E27FC236}">
                <a16:creationId xmlns:a16="http://schemas.microsoft.com/office/drawing/2014/main" id="{ECF2BD4F-8F3D-BFAB-AB91-C4AE0488DF0D}"/>
              </a:ext>
            </a:extLst>
          </p:cNvPr>
          <p:cNvSpPr txBox="1">
            <a:spLocks/>
          </p:cNvSpPr>
          <p:nvPr/>
        </p:nvSpPr>
        <p:spPr>
          <a:xfrm>
            <a:off x="469656" y="1801368"/>
            <a:ext cx="10665704" cy="71120"/>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4.b.3 State the available operators/rules for getting from one state to the next, giving any conditions on when they may be applied.</a:t>
            </a:r>
          </a:p>
          <a:p>
            <a:r>
              <a:rPr lang="en-GB" dirty="0"/>
              <a:t>Let an operator be represented as </a:t>
            </a:r>
            <a:r>
              <a:rPr lang="en-GB" b="1" dirty="0"/>
              <a:t>Move (m, c), </a:t>
            </a:r>
            <a:r>
              <a:rPr lang="en-GB" dirty="0"/>
              <a:t>where </a:t>
            </a:r>
            <a:r>
              <a:rPr lang="en-GB" b="1" dirty="0"/>
              <a:t>m</a:t>
            </a:r>
            <a:r>
              <a:rPr lang="en-GB" dirty="0"/>
              <a:t> is the number of missionaries and </a:t>
            </a:r>
            <a:r>
              <a:rPr lang="en-GB" b="1" dirty="0"/>
              <a:t>c</a:t>
            </a:r>
            <a:r>
              <a:rPr lang="en-GB" dirty="0"/>
              <a:t> is the number of cannibals boarding the boat </a:t>
            </a:r>
            <a:r>
              <a:rPr lang="en-GB" b="1" dirty="0"/>
              <a:t>(1 &lt;= </a:t>
            </a:r>
            <a:r>
              <a:rPr lang="en-GB" b="1" dirty="0" err="1"/>
              <a:t>m+c</a:t>
            </a:r>
            <a:r>
              <a:rPr lang="en-GB" b="1" dirty="0"/>
              <a:t> &lt;= 2).</a:t>
            </a:r>
          </a:p>
          <a:p>
            <a:r>
              <a:rPr lang="en-GB" b="1" dirty="0"/>
              <a:t>Valid Boat Configurations:</a:t>
            </a:r>
            <a:r>
              <a:rPr lang="en-GB" dirty="0"/>
              <a:t> </a:t>
            </a:r>
            <a:r>
              <a:rPr lang="en-GB" b="1" dirty="0"/>
              <a:t>Move(1,0), Move(2,0), Move(0,1), Move(0,2), Move(1,1).</a:t>
            </a:r>
          </a:p>
          <a:p>
            <a:r>
              <a:rPr lang="en-GB" b="1" dirty="0"/>
              <a:t>State Updates:</a:t>
            </a:r>
            <a:endParaRPr lang="en-GB" dirty="0"/>
          </a:p>
          <a:p>
            <a:pPr lvl="1"/>
            <a:r>
              <a:rPr lang="en-GB" dirty="0"/>
              <a:t>If </a:t>
            </a:r>
            <a:r>
              <a:rPr lang="en-GB" b="1" dirty="0"/>
              <a:t>B=1 </a:t>
            </a:r>
            <a:r>
              <a:rPr lang="en-GB" dirty="0"/>
              <a:t>(moving Left </a:t>
            </a:r>
            <a:r>
              <a:rPr lang="en-GB" dirty="0">
                <a:sym typeface="Wingdings" panose="05000000000000000000" pitchFamily="2" charset="2"/>
              </a:rPr>
              <a:t></a:t>
            </a:r>
            <a:r>
              <a:rPr lang="en-GB" dirty="0"/>
              <a:t> Right): </a:t>
            </a:r>
            <a:r>
              <a:rPr lang="en-GB" b="1" dirty="0" err="1"/>
              <a:t>M</a:t>
            </a:r>
            <a:r>
              <a:rPr lang="en-GB" b="1" baseline="-25000" dirty="0" err="1"/>
              <a:t>new</a:t>
            </a:r>
            <a:r>
              <a:rPr lang="en-GB" b="1" baseline="-25000" dirty="0"/>
              <a:t> </a:t>
            </a:r>
            <a:r>
              <a:rPr lang="en-GB" b="1" dirty="0"/>
              <a:t>= M - m, </a:t>
            </a:r>
            <a:r>
              <a:rPr lang="en-GB" b="1" dirty="0" err="1"/>
              <a:t>C</a:t>
            </a:r>
            <a:r>
              <a:rPr lang="en-GB" b="1" baseline="-25000" dirty="0" err="1"/>
              <a:t>new</a:t>
            </a:r>
            <a:r>
              <a:rPr lang="en-GB" b="1" dirty="0"/>
              <a:t> = C - c, </a:t>
            </a:r>
            <a:r>
              <a:rPr lang="en-GB" b="1" dirty="0" err="1"/>
              <a:t>B</a:t>
            </a:r>
            <a:r>
              <a:rPr lang="en-GB" b="1" baseline="-25000" dirty="0" err="1"/>
              <a:t>new</a:t>
            </a:r>
            <a:r>
              <a:rPr lang="en-GB" b="1" dirty="0"/>
              <a:t> = 0.</a:t>
            </a:r>
          </a:p>
          <a:p>
            <a:pPr lvl="1"/>
            <a:r>
              <a:rPr lang="en-GB" dirty="0"/>
              <a:t>If </a:t>
            </a:r>
            <a:r>
              <a:rPr lang="en-GB" b="1" dirty="0"/>
              <a:t>B=0 </a:t>
            </a:r>
            <a:r>
              <a:rPr lang="en-GB" dirty="0"/>
              <a:t>(moving Right </a:t>
            </a:r>
            <a:r>
              <a:rPr lang="en-GB" dirty="0">
                <a:sym typeface="Wingdings" panose="05000000000000000000" pitchFamily="2" charset="2"/>
              </a:rPr>
              <a:t></a:t>
            </a:r>
            <a:r>
              <a:rPr lang="en-GB" dirty="0"/>
              <a:t> Left): </a:t>
            </a:r>
            <a:r>
              <a:rPr lang="en-GB" b="1" dirty="0" err="1"/>
              <a:t>M</a:t>
            </a:r>
            <a:r>
              <a:rPr lang="en-GB" b="1" baseline="-25000" dirty="0" err="1"/>
              <a:t>new</a:t>
            </a:r>
            <a:r>
              <a:rPr lang="en-GB" b="1" baseline="-25000" dirty="0"/>
              <a:t> </a:t>
            </a:r>
            <a:r>
              <a:rPr lang="en-GB" b="1" dirty="0"/>
              <a:t>= M + m, </a:t>
            </a:r>
            <a:r>
              <a:rPr lang="en-GB" b="1" dirty="0" err="1"/>
              <a:t>C</a:t>
            </a:r>
            <a:r>
              <a:rPr lang="en-GB" b="1" baseline="-25000" dirty="0" err="1"/>
              <a:t>new</a:t>
            </a:r>
            <a:r>
              <a:rPr lang="en-GB" b="1" dirty="0"/>
              <a:t> = C + c, </a:t>
            </a:r>
            <a:r>
              <a:rPr lang="en-GB" b="1" dirty="0" err="1"/>
              <a:t>B</a:t>
            </a:r>
            <a:r>
              <a:rPr lang="en-GB" b="1" baseline="-25000" dirty="0" err="1"/>
              <a:t>new</a:t>
            </a:r>
            <a:r>
              <a:rPr lang="en-GB" b="1" dirty="0"/>
              <a:t> = 1.</a:t>
            </a:r>
          </a:p>
          <a:p>
            <a:r>
              <a:rPr lang="en-GB" b="1" dirty="0"/>
              <a:t>Safety Constraints (Must hold true for all states):</a:t>
            </a:r>
            <a:endParaRPr lang="en-GB" dirty="0"/>
          </a:p>
          <a:p>
            <a:pPr lvl="1"/>
            <a:r>
              <a:rPr lang="en-GB" b="1" dirty="0"/>
              <a:t>Boundary Bounds:</a:t>
            </a:r>
            <a:r>
              <a:rPr lang="en-GB" dirty="0"/>
              <a:t> 0 &lt;= </a:t>
            </a:r>
            <a:r>
              <a:rPr lang="en-GB" b="1" dirty="0" err="1"/>
              <a:t>M</a:t>
            </a:r>
            <a:r>
              <a:rPr lang="en-GB" b="1" baseline="-25000" dirty="0" err="1"/>
              <a:t>new</a:t>
            </a:r>
            <a:r>
              <a:rPr lang="en-GB" dirty="0"/>
              <a:t>&lt;= 3 and 0 &lt;= </a:t>
            </a:r>
            <a:r>
              <a:rPr lang="en-GB" b="1" dirty="0" err="1"/>
              <a:t>C</a:t>
            </a:r>
            <a:r>
              <a:rPr lang="en-GB" b="1" baseline="-25000" dirty="0" err="1"/>
              <a:t>new</a:t>
            </a:r>
            <a:r>
              <a:rPr lang="en-GB" dirty="0"/>
              <a:t>&lt;=3.</a:t>
            </a:r>
          </a:p>
          <a:p>
            <a:pPr lvl="1"/>
            <a:r>
              <a:rPr lang="en-GB" b="1" dirty="0"/>
              <a:t>Left Bank Safety:</a:t>
            </a:r>
            <a:r>
              <a:rPr lang="en-GB" dirty="0"/>
              <a:t> If </a:t>
            </a:r>
            <a:r>
              <a:rPr lang="en-GB" b="1" dirty="0" err="1"/>
              <a:t>M</a:t>
            </a:r>
            <a:r>
              <a:rPr lang="en-GB" b="1" baseline="-25000" dirty="0" err="1"/>
              <a:t>new</a:t>
            </a:r>
            <a:r>
              <a:rPr lang="en-GB" b="1" baseline="-25000" dirty="0"/>
              <a:t> </a:t>
            </a:r>
            <a:r>
              <a:rPr lang="en-GB" dirty="0"/>
              <a:t>&gt; 0, then </a:t>
            </a:r>
            <a:r>
              <a:rPr lang="en-GB" b="1" dirty="0" err="1"/>
              <a:t>M</a:t>
            </a:r>
            <a:r>
              <a:rPr lang="en-GB" b="1" baseline="-25000" dirty="0" err="1"/>
              <a:t>new</a:t>
            </a:r>
            <a:r>
              <a:rPr lang="en-GB" b="1" baseline="-25000" dirty="0"/>
              <a:t> </a:t>
            </a:r>
            <a:r>
              <a:rPr lang="en-GB" dirty="0"/>
              <a:t>&gt;=</a:t>
            </a:r>
            <a:r>
              <a:rPr lang="en-GB" b="1" dirty="0"/>
              <a:t> </a:t>
            </a:r>
            <a:r>
              <a:rPr lang="en-GB" b="1" dirty="0" err="1"/>
              <a:t>C</a:t>
            </a:r>
            <a:r>
              <a:rPr lang="en-GB" b="1" baseline="-25000" dirty="0" err="1"/>
              <a:t>new</a:t>
            </a:r>
            <a:endParaRPr lang="en-GB" dirty="0"/>
          </a:p>
          <a:p>
            <a:pPr lvl="1"/>
            <a:r>
              <a:rPr lang="en-GB" b="1" dirty="0"/>
              <a:t>Right Bank Safety:</a:t>
            </a:r>
            <a:r>
              <a:rPr lang="en-GB" dirty="0"/>
              <a:t> If </a:t>
            </a:r>
            <a:r>
              <a:rPr lang="en-GB" b="1" dirty="0"/>
              <a:t>(3 - </a:t>
            </a:r>
            <a:r>
              <a:rPr lang="en-GB" b="1" dirty="0" err="1"/>
              <a:t>M</a:t>
            </a:r>
            <a:r>
              <a:rPr lang="en-GB" b="1" baseline="-25000" dirty="0" err="1"/>
              <a:t>new</a:t>
            </a:r>
            <a:r>
              <a:rPr lang="en-GB" b="1" dirty="0"/>
              <a:t>) &gt; </a:t>
            </a:r>
            <a:r>
              <a:rPr lang="en-GB" dirty="0"/>
              <a:t>0, then </a:t>
            </a:r>
            <a:r>
              <a:rPr lang="en-GB" b="1" dirty="0"/>
              <a:t>(3 - </a:t>
            </a:r>
            <a:r>
              <a:rPr lang="en-GB" b="1" dirty="0" err="1"/>
              <a:t>M</a:t>
            </a:r>
            <a:r>
              <a:rPr lang="en-GB" b="1" baseline="-25000" dirty="0" err="1"/>
              <a:t>new</a:t>
            </a:r>
            <a:r>
              <a:rPr lang="en-GB" b="1" dirty="0"/>
              <a:t>) &gt;= (3 - </a:t>
            </a:r>
            <a:r>
              <a:rPr lang="en-GB" b="1" dirty="0" err="1"/>
              <a:t>C</a:t>
            </a:r>
            <a:r>
              <a:rPr lang="en-GB" b="1" baseline="-25000" dirty="0" err="1"/>
              <a:t>new</a:t>
            </a:r>
            <a:r>
              <a:rPr lang="en-GB" b="1" dirty="0"/>
              <a:t>)</a:t>
            </a:r>
            <a:r>
              <a:rPr lang="en-GB" dirty="0"/>
              <a:t>.</a:t>
            </a:r>
          </a:p>
          <a:p>
            <a:endParaRPr lang="en-GB" b="1" dirty="0"/>
          </a:p>
        </p:txBody>
      </p:sp>
      <p:sp>
        <p:nvSpPr>
          <p:cNvPr id="16" name="Slide Number Placeholder 9">
            <a:extLst>
              <a:ext uri="{FF2B5EF4-FFF2-40B4-BE49-F238E27FC236}">
                <a16:creationId xmlns:a16="http://schemas.microsoft.com/office/drawing/2014/main" id="{2F45518F-4514-0FE6-6875-60EAF8E0B1FF}"/>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12</a:t>
            </a:fld>
            <a:endParaRPr lang="en-US" dirty="0"/>
          </a:p>
        </p:txBody>
      </p:sp>
    </p:spTree>
    <p:extLst>
      <p:ext uri="{BB962C8B-B14F-4D97-AF65-F5344CB8AC3E}">
        <p14:creationId xmlns:p14="http://schemas.microsoft.com/office/powerpoint/2010/main" val="485216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70BC20B1-D776-F4BA-B9C3-5C2C79AA6A41}"/>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5C9CB485-F64C-CBA8-7C43-413AA116C1EA}"/>
              </a:ext>
            </a:extLst>
          </p:cNvPr>
          <p:cNvSpPr txBox="1">
            <a:spLocks/>
          </p:cNvSpPr>
          <p:nvPr/>
        </p:nvSpPr>
        <p:spPr>
          <a:xfrm>
            <a:off x="469656" y="181864"/>
            <a:ext cx="10277856" cy="1655064"/>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GB" sz="3600" dirty="0"/>
              <a:t>4.b. The following is a problem which can be solved using state-space search techniques: </a:t>
            </a:r>
          </a:p>
          <a:p>
            <a:r>
              <a:rPr lang="en-GB" sz="3600" dirty="0"/>
              <a:t>The Cannibals and Missionaries problem:</a:t>
            </a:r>
            <a:endParaRPr lang="en-US" sz="2800" dirty="0"/>
          </a:p>
        </p:txBody>
      </p:sp>
      <p:sp>
        <p:nvSpPr>
          <p:cNvPr id="15" name="Content Placeholder 2">
            <a:extLst>
              <a:ext uri="{FF2B5EF4-FFF2-40B4-BE49-F238E27FC236}">
                <a16:creationId xmlns:a16="http://schemas.microsoft.com/office/drawing/2014/main" id="{2BFC3724-4B9D-7377-16CE-6FB5E6A2B692}"/>
              </a:ext>
            </a:extLst>
          </p:cNvPr>
          <p:cNvSpPr txBox="1">
            <a:spLocks/>
          </p:cNvSpPr>
          <p:nvPr/>
        </p:nvSpPr>
        <p:spPr>
          <a:xfrm>
            <a:off x="469656" y="2021840"/>
            <a:ext cx="10665704" cy="71120"/>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4.b.4 Draw the first two levels of the directed state-space graph for the given problem. </a:t>
            </a:r>
          </a:p>
          <a:p>
            <a:endParaRPr lang="en-GB" b="1" dirty="0"/>
          </a:p>
        </p:txBody>
      </p:sp>
      <p:sp>
        <p:nvSpPr>
          <p:cNvPr id="16" name="Slide Number Placeholder 9">
            <a:extLst>
              <a:ext uri="{FF2B5EF4-FFF2-40B4-BE49-F238E27FC236}">
                <a16:creationId xmlns:a16="http://schemas.microsoft.com/office/drawing/2014/main" id="{5933A7BB-46D2-564B-FFDB-B44FFDAA353A}"/>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13</a:t>
            </a:fld>
            <a:endParaRPr lang="en-US" dirty="0"/>
          </a:p>
        </p:txBody>
      </p:sp>
      <p:sp>
        <p:nvSpPr>
          <p:cNvPr id="2" name="TextBox 1">
            <a:extLst>
              <a:ext uri="{FF2B5EF4-FFF2-40B4-BE49-F238E27FC236}">
                <a16:creationId xmlns:a16="http://schemas.microsoft.com/office/drawing/2014/main" id="{772AD884-8457-5B36-897C-5027D00EF1A3}"/>
              </a:ext>
            </a:extLst>
          </p:cNvPr>
          <p:cNvSpPr txBox="1"/>
          <p:nvPr/>
        </p:nvSpPr>
        <p:spPr>
          <a:xfrm>
            <a:off x="4826000" y="2548128"/>
            <a:ext cx="821059" cy="369332"/>
          </a:xfrm>
          <a:prstGeom prst="rect">
            <a:avLst/>
          </a:prstGeom>
          <a:noFill/>
        </p:spPr>
        <p:txBody>
          <a:bodyPr wrap="none" rtlCol="0">
            <a:spAutoFit/>
          </a:bodyPr>
          <a:lstStyle/>
          <a:p>
            <a:r>
              <a:rPr lang="en-GB" dirty="0"/>
              <a:t>[3,3,1]</a:t>
            </a:r>
          </a:p>
        </p:txBody>
      </p:sp>
      <p:sp>
        <p:nvSpPr>
          <p:cNvPr id="5" name="TextBox 4">
            <a:extLst>
              <a:ext uri="{FF2B5EF4-FFF2-40B4-BE49-F238E27FC236}">
                <a16:creationId xmlns:a16="http://schemas.microsoft.com/office/drawing/2014/main" id="{59D94CCF-44F5-6053-6004-63AA5B970CF9}"/>
              </a:ext>
            </a:extLst>
          </p:cNvPr>
          <p:cNvSpPr txBox="1"/>
          <p:nvPr/>
        </p:nvSpPr>
        <p:spPr>
          <a:xfrm>
            <a:off x="10637520" y="1836928"/>
            <a:ext cx="1361440" cy="1477328"/>
          </a:xfrm>
          <a:prstGeom prst="rect">
            <a:avLst/>
          </a:prstGeom>
          <a:noFill/>
        </p:spPr>
        <p:txBody>
          <a:bodyPr wrap="square">
            <a:spAutoFit/>
          </a:bodyPr>
          <a:lstStyle/>
          <a:p>
            <a:r>
              <a:rPr lang="en-GB" sz="1800" b="1" dirty="0"/>
              <a:t>Move(1,0), Move(2,0), Move(0,1), Move(0,2), Move(1,1).</a:t>
            </a:r>
            <a:endParaRPr lang="en-GB" dirty="0"/>
          </a:p>
        </p:txBody>
      </p:sp>
      <p:sp>
        <p:nvSpPr>
          <p:cNvPr id="8" name="TextBox 7">
            <a:extLst>
              <a:ext uri="{FF2B5EF4-FFF2-40B4-BE49-F238E27FC236}">
                <a16:creationId xmlns:a16="http://schemas.microsoft.com/office/drawing/2014/main" id="{2CC54AF3-F8D6-9F3C-0975-78808212A025}"/>
              </a:ext>
            </a:extLst>
          </p:cNvPr>
          <p:cNvSpPr txBox="1"/>
          <p:nvPr/>
        </p:nvSpPr>
        <p:spPr>
          <a:xfrm>
            <a:off x="1971040" y="3429000"/>
            <a:ext cx="821059" cy="369332"/>
          </a:xfrm>
          <a:prstGeom prst="rect">
            <a:avLst/>
          </a:prstGeom>
          <a:noFill/>
        </p:spPr>
        <p:txBody>
          <a:bodyPr wrap="none" rtlCol="0">
            <a:spAutoFit/>
          </a:bodyPr>
          <a:lstStyle/>
          <a:p>
            <a:r>
              <a:rPr lang="en-GB" dirty="0"/>
              <a:t>[3,2,0]</a:t>
            </a:r>
          </a:p>
        </p:txBody>
      </p:sp>
      <p:sp>
        <p:nvSpPr>
          <p:cNvPr id="10" name="TextBox 9">
            <a:extLst>
              <a:ext uri="{FF2B5EF4-FFF2-40B4-BE49-F238E27FC236}">
                <a16:creationId xmlns:a16="http://schemas.microsoft.com/office/drawing/2014/main" id="{85C981D6-098C-422C-8FA4-725BFF1B94B1}"/>
              </a:ext>
            </a:extLst>
          </p:cNvPr>
          <p:cNvSpPr txBox="1"/>
          <p:nvPr/>
        </p:nvSpPr>
        <p:spPr>
          <a:xfrm>
            <a:off x="4826000" y="3425706"/>
            <a:ext cx="821059" cy="369332"/>
          </a:xfrm>
          <a:prstGeom prst="rect">
            <a:avLst/>
          </a:prstGeom>
          <a:noFill/>
        </p:spPr>
        <p:txBody>
          <a:bodyPr wrap="none" rtlCol="0">
            <a:spAutoFit/>
          </a:bodyPr>
          <a:lstStyle/>
          <a:p>
            <a:r>
              <a:rPr lang="en-GB" dirty="0"/>
              <a:t>[2,2,0]</a:t>
            </a:r>
          </a:p>
        </p:txBody>
      </p:sp>
      <p:sp>
        <p:nvSpPr>
          <p:cNvPr id="12" name="TextBox 11">
            <a:extLst>
              <a:ext uri="{FF2B5EF4-FFF2-40B4-BE49-F238E27FC236}">
                <a16:creationId xmlns:a16="http://schemas.microsoft.com/office/drawing/2014/main" id="{81B9B342-B6C2-9041-26C4-700457A806A9}"/>
              </a:ext>
            </a:extLst>
          </p:cNvPr>
          <p:cNvSpPr txBox="1"/>
          <p:nvPr/>
        </p:nvSpPr>
        <p:spPr>
          <a:xfrm>
            <a:off x="7386320" y="3417332"/>
            <a:ext cx="821059" cy="369332"/>
          </a:xfrm>
          <a:prstGeom prst="rect">
            <a:avLst/>
          </a:prstGeom>
          <a:noFill/>
        </p:spPr>
        <p:txBody>
          <a:bodyPr wrap="none" rtlCol="0">
            <a:spAutoFit/>
          </a:bodyPr>
          <a:lstStyle/>
          <a:p>
            <a:r>
              <a:rPr lang="en-GB" dirty="0"/>
              <a:t>[3,1,0]</a:t>
            </a:r>
          </a:p>
        </p:txBody>
      </p:sp>
      <p:cxnSp>
        <p:nvCxnSpPr>
          <p:cNvPr id="17" name="Straight Arrow Connector 16">
            <a:extLst>
              <a:ext uri="{FF2B5EF4-FFF2-40B4-BE49-F238E27FC236}">
                <a16:creationId xmlns:a16="http://schemas.microsoft.com/office/drawing/2014/main" id="{DEF8BA2B-5B09-F15F-413F-AA3CA4215257}"/>
              </a:ext>
            </a:extLst>
          </p:cNvPr>
          <p:cNvCxnSpPr>
            <a:stCxn id="2" idx="1"/>
            <a:endCxn id="8" idx="3"/>
          </p:cNvCxnSpPr>
          <p:nvPr/>
        </p:nvCxnSpPr>
        <p:spPr>
          <a:xfrm flipH="1">
            <a:off x="2792099" y="2732794"/>
            <a:ext cx="2033901" cy="880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38C9EB5-B64A-5336-2922-1614F2C787D4}"/>
              </a:ext>
            </a:extLst>
          </p:cNvPr>
          <p:cNvCxnSpPr>
            <a:stCxn id="2" idx="2"/>
            <a:endCxn id="10" idx="0"/>
          </p:cNvCxnSpPr>
          <p:nvPr/>
        </p:nvCxnSpPr>
        <p:spPr>
          <a:xfrm>
            <a:off x="5236530" y="2917460"/>
            <a:ext cx="0" cy="508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AE42D72-C96C-8A37-90CD-E30EF6B153FB}"/>
              </a:ext>
            </a:extLst>
          </p:cNvPr>
          <p:cNvCxnSpPr>
            <a:endCxn id="12" idx="0"/>
          </p:cNvCxnSpPr>
          <p:nvPr/>
        </p:nvCxnSpPr>
        <p:spPr>
          <a:xfrm>
            <a:off x="5647059" y="2732794"/>
            <a:ext cx="2149791" cy="6845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C133BD2-DA01-D001-7536-2F545D4DCE2F}"/>
              </a:ext>
            </a:extLst>
          </p:cNvPr>
          <p:cNvSpPr txBox="1"/>
          <p:nvPr/>
        </p:nvSpPr>
        <p:spPr>
          <a:xfrm rot="20221969">
            <a:off x="2942650" y="2986916"/>
            <a:ext cx="1270000" cy="369332"/>
          </a:xfrm>
          <a:prstGeom prst="rect">
            <a:avLst/>
          </a:prstGeom>
          <a:noFill/>
        </p:spPr>
        <p:txBody>
          <a:bodyPr wrap="square">
            <a:spAutoFit/>
          </a:bodyPr>
          <a:lstStyle/>
          <a:p>
            <a:r>
              <a:rPr lang="en-GB" sz="1800" b="1" dirty="0"/>
              <a:t>Move(0,1) </a:t>
            </a:r>
            <a:endParaRPr lang="en-GB" dirty="0"/>
          </a:p>
        </p:txBody>
      </p:sp>
      <p:sp>
        <p:nvSpPr>
          <p:cNvPr id="25" name="TextBox 24">
            <a:extLst>
              <a:ext uri="{FF2B5EF4-FFF2-40B4-BE49-F238E27FC236}">
                <a16:creationId xmlns:a16="http://schemas.microsoft.com/office/drawing/2014/main" id="{2ACDD6DE-6EF6-674C-598D-2B1E2A6F44E1}"/>
              </a:ext>
            </a:extLst>
          </p:cNvPr>
          <p:cNvSpPr txBox="1"/>
          <p:nvPr/>
        </p:nvSpPr>
        <p:spPr>
          <a:xfrm>
            <a:off x="5195868" y="3142642"/>
            <a:ext cx="1313440" cy="369332"/>
          </a:xfrm>
          <a:prstGeom prst="rect">
            <a:avLst/>
          </a:prstGeom>
          <a:noFill/>
        </p:spPr>
        <p:txBody>
          <a:bodyPr wrap="square">
            <a:spAutoFit/>
          </a:bodyPr>
          <a:lstStyle/>
          <a:p>
            <a:r>
              <a:rPr lang="en-GB" sz="1800" b="1" dirty="0"/>
              <a:t>Move(1,1)</a:t>
            </a:r>
            <a:endParaRPr lang="en-GB" dirty="0"/>
          </a:p>
        </p:txBody>
      </p:sp>
      <p:sp>
        <p:nvSpPr>
          <p:cNvPr id="27" name="TextBox 26">
            <a:extLst>
              <a:ext uri="{FF2B5EF4-FFF2-40B4-BE49-F238E27FC236}">
                <a16:creationId xmlns:a16="http://schemas.microsoft.com/office/drawing/2014/main" id="{32B5B88C-D9C7-BC1A-CF82-43EA1FB9A1F4}"/>
              </a:ext>
            </a:extLst>
          </p:cNvPr>
          <p:cNvSpPr txBox="1"/>
          <p:nvPr/>
        </p:nvSpPr>
        <p:spPr>
          <a:xfrm rot="1129193">
            <a:off x="6203181" y="2741999"/>
            <a:ext cx="1313440" cy="369332"/>
          </a:xfrm>
          <a:prstGeom prst="rect">
            <a:avLst/>
          </a:prstGeom>
          <a:noFill/>
        </p:spPr>
        <p:txBody>
          <a:bodyPr wrap="square">
            <a:spAutoFit/>
          </a:bodyPr>
          <a:lstStyle/>
          <a:p>
            <a:r>
              <a:rPr lang="en-GB" sz="1800" b="1" dirty="0"/>
              <a:t>Move(0,2)</a:t>
            </a:r>
            <a:endParaRPr lang="en-GB" dirty="0"/>
          </a:p>
        </p:txBody>
      </p:sp>
      <p:sp>
        <p:nvSpPr>
          <p:cNvPr id="29" name="TextBox 28">
            <a:extLst>
              <a:ext uri="{FF2B5EF4-FFF2-40B4-BE49-F238E27FC236}">
                <a16:creationId xmlns:a16="http://schemas.microsoft.com/office/drawing/2014/main" id="{48FF5C25-2638-908D-3B15-2395B846BFB7}"/>
              </a:ext>
            </a:extLst>
          </p:cNvPr>
          <p:cNvSpPr txBox="1"/>
          <p:nvPr/>
        </p:nvSpPr>
        <p:spPr>
          <a:xfrm>
            <a:off x="1971040" y="4587117"/>
            <a:ext cx="821059" cy="369332"/>
          </a:xfrm>
          <a:prstGeom prst="rect">
            <a:avLst/>
          </a:prstGeom>
          <a:noFill/>
        </p:spPr>
        <p:txBody>
          <a:bodyPr wrap="none" rtlCol="0">
            <a:spAutoFit/>
          </a:bodyPr>
          <a:lstStyle/>
          <a:p>
            <a:r>
              <a:rPr lang="en-GB" dirty="0"/>
              <a:t>[3,3,1]</a:t>
            </a:r>
          </a:p>
        </p:txBody>
      </p:sp>
      <p:sp>
        <p:nvSpPr>
          <p:cNvPr id="31" name="TextBox 30">
            <a:extLst>
              <a:ext uri="{FF2B5EF4-FFF2-40B4-BE49-F238E27FC236}">
                <a16:creationId xmlns:a16="http://schemas.microsoft.com/office/drawing/2014/main" id="{A54E9EA6-97DD-366E-F781-7C9249431A81}"/>
              </a:ext>
            </a:extLst>
          </p:cNvPr>
          <p:cNvSpPr txBox="1"/>
          <p:nvPr/>
        </p:nvSpPr>
        <p:spPr>
          <a:xfrm>
            <a:off x="4234370" y="4592074"/>
            <a:ext cx="821059" cy="369332"/>
          </a:xfrm>
          <a:prstGeom prst="rect">
            <a:avLst/>
          </a:prstGeom>
          <a:noFill/>
        </p:spPr>
        <p:txBody>
          <a:bodyPr wrap="none" rtlCol="0">
            <a:spAutoFit/>
          </a:bodyPr>
          <a:lstStyle/>
          <a:p>
            <a:r>
              <a:rPr lang="en-GB" dirty="0"/>
              <a:t>[3,3,1]</a:t>
            </a:r>
          </a:p>
        </p:txBody>
      </p:sp>
      <p:sp>
        <p:nvSpPr>
          <p:cNvPr id="33" name="TextBox 32">
            <a:extLst>
              <a:ext uri="{FF2B5EF4-FFF2-40B4-BE49-F238E27FC236}">
                <a16:creationId xmlns:a16="http://schemas.microsoft.com/office/drawing/2014/main" id="{C87F2C93-0273-8C73-7A4A-E154683BD306}"/>
              </a:ext>
            </a:extLst>
          </p:cNvPr>
          <p:cNvSpPr txBox="1"/>
          <p:nvPr/>
        </p:nvSpPr>
        <p:spPr>
          <a:xfrm>
            <a:off x="6859901" y="4585789"/>
            <a:ext cx="821059" cy="369332"/>
          </a:xfrm>
          <a:prstGeom prst="rect">
            <a:avLst/>
          </a:prstGeom>
          <a:noFill/>
        </p:spPr>
        <p:txBody>
          <a:bodyPr wrap="none" rtlCol="0">
            <a:spAutoFit/>
          </a:bodyPr>
          <a:lstStyle/>
          <a:p>
            <a:r>
              <a:rPr lang="en-GB" dirty="0"/>
              <a:t>[3,3,1]</a:t>
            </a:r>
          </a:p>
        </p:txBody>
      </p:sp>
      <p:cxnSp>
        <p:nvCxnSpPr>
          <p:cNvPr id="35" name="Straight Arrow Connector 34">
            <a:extLst>
              <a:ext uri="{FF2B5EF4-FFF2-40B4-BE49-F238E27FC236}">
                <a16:creationId xmlns:a16="http://schemas.microsoft.com/office/drawing/2014/main" id="{C6406478-023C-AB82-71CC-7532B6DC111E}"/>
              </a:ext>
            </a:extLst>
          </p:cNvPr>
          <p:cNvCxnSpPr>
            <a:stCxn id="8" idx="2"/>
            <a:endCxn id="29" idx="0"/>
          </p:cNvCxnSpPr>
          <p:nvPr/>
        </p:nvCxnSpPr>
        <p:spPr>
          <a:xfrm>
            <a:off x="2381570" y="3798332"/>
            <a:ext cx="0" cy="788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1B5F73BA-7A86-15C3-B425-676D47F4DF82}"/>
              </a:ext>
            </a:extLst>
          </p:cNvPr>
          <p:cNvSpPr txBox="1"/>
          <p:nvPr/>
        </p:nvSpPr>
        <p:spPr>
          <a:xfrm>
            <a:off x="2309049" y="3960830"/>
            <a:ext cx="1270000" cy="369332"/>
          </a:xfrm>
          <a:prstGeom prst="rect">
            <a:avLst/>
          </a:prstGeom>
          <a:noFill/>
        </p:spPr>
        <p:txBody>
          <a:bodyPr wrap="square">
            <a:spAutoFit/>
          </a:bodyPr>
          <a:lstStyle/>
          <a:p>
            <a:r>
              <a:rPr lang="en-GB" sz="1800" b="1" dirty="0"/>
              <a:t>Move(0,1) </a:t>
            </a:r>
            <a:endParaRPr lang="en-GB" dirty="0"/>
          </a:p>
        </p:txBody>
      </p:sp>
      <p:cxnSp>
        <p:nvCxnSpPr>
          <p:cNvPr id="39" name="Straight Arrow Connector 38">
            <a:extLst>
              <a:ext uri="{FF2B5EF4-FFF2-40B4-BE49-F238E27FC236}">
                <a16:creationId xmlns:a16="http://schemas.microsoft.com/office/drawing/2014/main" id="{6379EC1E-B8C7-E1AD-172C-05C367E591DD}"/>
              </a:ext>
            </a:extLst>
          </p:cNvPr>
          <p:cNvCxnSpPr>
            <a:stCxn id="10" idx="2"/>
            <a:endCxn id="31" idx="0"/>
          </p:cNvCxnSpPr>
          <p:nvPr/>
        </p:nvCxnSpPr>
        <p:spPr>
          <a:xfrm flipH="1">
            <a:off x="4644900" y="3795038"/>
            <a:ext cx="591630" cy="7970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062A2C6-1E05-0AC5-B00F-9849364C0E97}"/>
              </a:ext>
            </a:extLst>
          </p:cNvPr>
          <p:cNvCxnSpPr>
            <a:stCxn id="12" idx="2"/>
            <a:endCxn id="33" idx="0"/>
          </p:cNvCxnSpPr>
          <p:nvPr/>
        </p:nvCxnSpPr>
        <p:spPr>
          <a:xfrm flipH="1">
            <a:off x="7270431" y="3786664"/>
            <a:ext cx="526419" cy="7991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F47FDF01-0AC0-CA8C-169A-A0807D4E83C6}"/>
              </a:ext>
            </a:extLst>
          </p:cNvPr>
          <p:cNvSpPr txBox="1"/>
          <p:nvPr/>
        </p:nvSpPr>
        <p:spPr>
          <a:xfrm rot="18519964">
            <a:off x="4193730" y="3916910"/>
            <a:ext cx="1313440" cy="369332"/>
          </a:xfrm>
          <a:prstGeom prst="rect">
            <a:avLst/>
          </a:prstGeom>
          <a:noFill/>
        </p:spPr>
        <p:txBody>
          <a:bodyPr wrap="square">
            <a:spAutoFit/>
          </a:bodyPr>
          <a:lstStyle/>
          <a:p>
            <a:r>
              <a:rPr lang="en-GB" sz="1800" b="1" dirty="0"/>
              <a:t>Move(1,1)</a:t>
            </a:r>
            <a:endParaRPr lang="en-GB" dirty="0"/>
          </a:p>
        </p:txBody>
      </p:sp>
      <p:sp>
        <p:nvSpPr>
          <p:cNvPr id="46" name="TextBox 45">
            <a:extLst>
              <a:ext uri="{FF2B5EF4-FFF2-40B4-BE49-F238E27FC236}">
                <a16:creationId xmlns:a16="http://schemas.microsoft.com/office/drawing/2014/main" id="{52C80A6D-2CA7-CDD5-AEBB-536D68BD9560}"/>
              </a:ext>
            </a:extLst>
          </p:cNvPr>
          <p:cNvSpPr txBox="1"/>
          <p:nvPr/>
        </p:nvSpPr>
        <p:spPr>
          <a:xfrm>
            <a:off x="5274941" y="4587117"/>
            <a:ext cx="821059" cy="369332"/>
          </a:xfrm>
          <a:prstGeom prst="rect">
            <a:avLst/>
          </a:prstGeom>
          <a:noFill/>
        </p:spPr>
        <p:txBody>
          <a:bodyPr wrap="none" rtlCol="0">
            <a:spAutoFit/>
          </a:bodyPr>
          <a:lstStyle/>
          <a:p>
            <a:r>
              <a:rPr lang="en-GB" dirty="0"/>
              <a:t>[3,2,1]</a:t>
            </a:r>
          </a:p>
        </p:txBody>
      </p:sp>
      <p:cxnSp>
        <p:nvCxnSpPr>
          <p:cNvPr id="48" name="Straight Arrow Connector 47">
            <a:extLst>
              <a:ext uri="{FF2B5EF4-FFF2-40B4-BE49-F238E27FC236}">
                <a16:creationId xmlns:a16="http://schemas.microsoft.com/office/drawing/2014/main" id="{0A91AF42-CF58-399A-C820-82F36684CF63}"/>
              </a:ext>
            </a:extLst>
          </p:cNvPr>
          <p:cNvCxnSpPr>
            <a:cxnSpLocks/>
            <a:endCxn id="46" idx="0"/>
          </p:cNvCxnSpPr>
          <p:nvPr/>
        </p:nvCxnSpPr>
        <p:spPr>
          <a:xfrm>
            <a:off x="5313644" y="3827180"/>
            <a:ext cx="371827" cy="7599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EB75D135-9AF2-8BE3-D24F-513EB01B51C2}"/>
              </a:ext>
            </a:extLst>
          </p:cNvPr>
          <p:cNvSpPr txBox="1"/>
          <p:nvPr/>
        </p:nvSpPr>
        <p:spPr>
          <a:xfrm rot="3705628">
            <a:off x="4990338" y="4058926"/>
            <a:ext cx="1313440" cy="369332"/>
          </a:xfrm>
          <a:prstGeom prst="rect">
            <a:avLst/>
          </a:prstGeom>
          <a:noFill/>
        </p:spPr>
        <p:txBody>
          <a:bodyPr wrap="square">
            <a:spAutoFit/>
          </a:bodyPr>
          <a:lstStyle/>
          <a:p>
            <a:r>
              <a:rPr lang="en-GB" sz="1800" b="1" dirty="0"/>
              <a:t>Move(1,0)</a:t>
            </a:r>
            <a:endParaRPr lang="en-GB" dirty="0"/>
          </a:p>
        </p:txBody>
      </p:sp>
      <p:sp>
        <p:nvSpPr>
          <p:cNvPr id="55" name="TextBox 54">
            <a:extLst>
              <a:ext uri="{FF2B5EF4-FFF2-40B4-BE49-F238E27FC236}">
                <a16:creationId xmlns:a16="http://schemas.microsoft.com/office/drawing/2014/main" id="{59D3C005-6436-2D0A-ADB0-A669C2D1653E}"/>
              </a:ext>
            </a:extLst>
          </p:cNvPr>
          <p:cNvSpPr txBox="1"/>
          <p:nvPr/>
        </p:nvSpPr>
        <p:spPr>
          <a:xfrm rot="18459727">
            <a:off x="6705122" y="3914604"/>
            <a:ext cx="1313440" cy="369332"/>
          </a:xfrm>
          <a:prstGeom prst="rect">
            <a:avLst/>
          </a:prstGeom>
          <a:noFill/>
        </p:spPr>
        <p:txBody>
          <a:bodyPr wrap="square">
            <a:spAutoFit/>
          </a:bodyPr>
          <a:lstStyle/>
          <a:p>
            <a:r>
              <a:rPr lang="en-GB" sz="1800" b="1" dirty="0"/>
              <a:t>Move(0,2)</a:t>
            </a:r>
            <a:endParaRPr lang="en-GB" dirty="0"/>
          </a:p>
        </p:txBody>
      </p:sp>
      <p:sp>
        <p:nvSpPr>
          <p:cNvPr id="57" name="TextBox 56">
            <a:extLst>
              <a:ext uri="{FF2B5EF4-FFF2-40B4-BE49-F238E27FC236}">
                <a16:creationId xmlns:a16="http://schemas.microsoft.com/office/drawing/2014/main" id="{7F2848F8-3B1C-0424-2E6D-53D831BBED7D}"/>
              </a:ext>
            </a:extLst>
          </p:cNvPr>
          <p:cNvSpPr txBox="1"/>
          <p:nvPr/>
        </p:nvSpPr>
        <p:spPr>
          <a:xfrm>
            <a:off x="8192676" y="4585789"/>
            <a:ext cx="821059" cy="369332"/>
          </a:xfrm>
          <a:prstGeom prst="rect">
            <a:avLst/>
          </a:prstGeom>
          <a:noFill/>
        </p:spPr>
        <p:txBody>
          <a:bodyPr wrap="none" rtlCol="0">
            <a:spAutoFit/>
          </a:bodyPr>
          <a:lstStyle/>
          <a:p>
            <a:r>
              <a:rPr lang="en-GB" dirty="0"/>
              <a:t>[3,2,1]</a:t>
            </a:r>
          </a:p>
        </p:txBody>
      </p:sp>
      <p:cxnSp>
        <p:nvCxnSpPr>
          <p:cNvPr id="59" name="Straight Arrow Connector 58">
            <a:extLst>
              <a:ext uri="{FF2B5EF4-FFF2-40B4-BE49-F238E27FC236}">
                <a16:creationId xmlns:a16="http://schemas.microsoft.com/office/drawing/2014/main" id="{88BD70FC-1198-AF1A-ADE5-C8660FCD5AEA}"/>
              </a:ext>
            </a:extLst>
          </p:cNvPr>
          <p:cNvCxnSpPr>
            <a:cxnSpLocks/>
            <a:endCxn id="57" idx="0"/>
          </p:cNvCxnSpPr>
          <p:nvPr/>
        </p:nvCxnSpPr>
        <p:spPr>
          <a:xfrm>
            <a:off x="7909288" y="3786664"/>
            <a:ext cx="693918" cy="7991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2B13851C-EEEB-6E4E-4C49-90D1C96E44A5}"/>
              </a:ext>
            </a:extLst>
          </p:cNvPr>
          <p:cNvSpPr txBox="1"/>
          <p:nvPr/>
        </p:nvSpPr>
        <p:spPr>
          <a:xfrm rot="2861275">
            <a:off x="7907674" y="3952108"/>
            <a:ext cx="1313440" cy="369332"/>
          </a:xfrm>
          <a:prstGeom prst="rect">
            <a:avLst/>
          </a:prstGeom>
          <a:noFill/>
        </p:spPr>
        <p:txBody>
          <a:bodyPr wrap="square">
            <a:spAutoFit/>
          </a:bodyPr>
          <a:lstStyle/>
          <a:p>
            <a:r>
              <a:rPr lang="en-GB" sz="1800" b="1" dirty="0"/>
              <a:t>Move(0,1)</a:t>
            </a:r>
            <a:endParaRPr lang="en-GB" dirty="0"/>
          </a:p>
        </p:txBody>
      </p:sp>
      <p:sp>
        <p:nvSpPr>
          <p:cNvPr id="70" name="TextBox 69">
            <a:extLst>
              <a:ext uri="{FF2B5EF4-FFF2-40B4-BE49-F238E27FC236}">
                <a16:creationId xmlns:a16="http://schemas.microsoft.com/office/drawing/2014/main" id="{393CC454-8F34-8E48-ED99-58DDEA7AA704}"/>
              </a:ext>
            </a:extLst>
          </p:cNvPr>
          <p:cNvSpPr txBox="1"/>
          <p:nvPr/>
        </p:nvSpPr>
        <p:spPr>
          <a:xfrm>
            <a:off x="1789975" y="4866636"/>
            <a:ext cx="1680494" cy="369332"/>
          </a:xfrm>
          <a:prstGeom prst="rect">
            <a:avLst/>
          </a:prstGeom>
          <a:noFill/>
        </p:spPr>
        <p:txBody>
          <a:bodyPr wrap="square" rtlCol="0">
            <a:spAutoFit/>
          </a:bodyPr>
          <a:lstStyle/>
          <a:p>
            <a:r>
              <a:rPr lang="en-GB" dirty="0"/>
              <a:t>(</a:t>
            </a:r>
            <a:r>
              <a:rPr lang="en-GB" dirty="0" err="1"/>
              <a:t>intial</a:t>
            </a:r>
            <a:r>
              <a:rPr lang="en-GB" dirty="0"/>
              <a:t> state)</a:t>
            </a:r>
          </a:p>
        </p:txBody>
      </p:sp>
      <p:sp>
        <p:nvSpPr>
          <p:cNvPr id="72" name="TextBox 71">
            <a:extLst>
              <a:ext uri="{FF2B5EF4-FFF2-40B4-BE49-F238E27FC236}">
                <a16:creationId xmlns:a16="http://schemas.microsoft.com/office/drawing/2014/main" id="{727D080F-B828-F09E-4E95-2749521A33E0}"/>
              </a:ext>
            </a:extLst>
          </p:cNvPr>
          <p:cNvSpPr txBox="1"/>
          <p:nvPr/>
        </p:nvSpPr>
        <p:spPr>
          <a:xfrm>
            <a:off x="3809049" y="4833948"/>
            <a:ext cx="1680494" cy="369332"/>
          </a:xfrm>
          <a:prstGeom prst="rect">
            <a:avLst/>
          </a:prstGeom>
          <a:noFill/>
        </p:spPr>
        <p:txBody>
          <a:bodyPr wrap="square" rtlCol="0">
            <a:spAutoFit/>
          </a:bodyPr>
          <a:lstStyle/>
          <a:p>
            <a:r>
              <a:rPr lang="en-GB" dirty="0"/>
              <a:t>(</a:t>
            </a:r>
            <a:r>
              <a:rPr lang="en-GB" dirty="0" err="1"/>
              <a:t>intial</a:t>
            </a:r>
            <a:r>
              <a:rPr lang="en-GB" dirty="0"/>
              <a:t> state)</a:t>
            </a:r>
          </a:p>
        </p:txBody>
      </p:sp>
      <p:sp>
        <p:nvSpPr>
          <p:cNvPr id="74" name="TextBox 73">
            <a:extLst>
              <a:ext uri="{FF2B5EF4-FFF2-40B4-BE49-F238E27FC236}">
                <a16:creationId xmlns:a16="http://schemas.microsoft.com/office/drawing/2014/main" id="{B665D092-06EC-C690-EA04-8D902EFCEC6A}"/>
              </a:ext>
            </a:extLst>
          </p:cNvPr>
          <p:cNvSpPr txBox="1"/>
          <p:nvPr/>
        </p:nvSpPr>
        <p:spPr>
          <a:xfrm>
            <a:off x="6587303" y="4841473"/>
            <a:ext cx="1680494" cy="369332"/>
          </a:xfrm>
          <a:prstGeom prst="rect">
            <a:avLst/>
          </a:prstGeom>
          <a:noFill/>
        </p:spPr>
        <p:txBody>
          <a:bodyPr wrap="square" rtlCol="0">
            <a:spAutoFit/>
          </a:bodyPr>
          <a:lstStyle/>
          <a:p>
            <a:r>
              <a:rPr lang="en-GB" dirty="0"/>
              <a:t>(</a:t>
            </a:r>
            <a:r>
              <a:rPr lang="en-GB" dirty="0" err="1"/>
              <a:t>intial</a:t>
            </a:r>
            <a:r>
              <a:rPr lang="en-GB" dirty="0"/>
              <a:t> state)</a:t>
            </a:r>
          </a:p>
        </p:txBody>
      </p:sp>
    </p:spTree>
    <p:extLst>
      <p:ext uri="{BB962C8B-B14F-4D97-AF65-F5344CB8AC3E}">
        <p14:creationId xmlns:p14="http://schemas.microsoft.com/office/powerpoint/2010/main" val="2278213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41C574DD-2307-DF49-FBA9-9BDC711EC695}"/>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D282E037-7859-F828-C525-D8BD22CFC926}"/>
              </a:ext>
            </a:extLst>
          </p:cNvPr>
          <p:cNvSpPr txBox="1">
            <a:spLocks/>
          </p:cNvSpPr>
          <p:nvPr/>
        </p:nvSpPr>
        <p:spPr>
          <a:xfrm>
            <a:off x="469656" y="181864"/>
            <a:ext cx="10277856" cy="1655064"/>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GB" sz="3600" dirty="0"/>
              <a:t>4.c. Briefly discuss the advantages and disadvantages of depth and breadth first search. What sort of problem is each appropriate for?</a:t>
            </a:r>
            <a:endParaRPr lang="en-US" sz="2800" dirty="0"/>
          </a:p>
        </p:txBody>
      </p:sp>
      <p:sp>
        <p:nvSpPr>
          <p:cNvPr id="15" name="Content Placeholder 2">
            <a:extLst>
              <a:ext uri="{FF2B5EF4-FFF2-40B4-BE49-F238E27FC236}">
                <a16:creationId xmlns:a16="http://schemas.microsoft.com/office/drawing/2014/main" id="{4AE93A3D-E63D-A358-3E26-76571C9BD3D6}"/>
              </a:ext>
            </a:extLst>
          </p:cNvPr>
          <p:cNvSpPr txBox="1">
            <a:spLocks/>
          </p:cNvSpPr>
          <p:nvPr/>
        </p:nvSpPr>
        <p:spPr>
          <a:xfrm>
            <a:off x="469656" y="2021840"/>
            <a:ext cx="10665704" cy="71120"/>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p>
        </p:txBody>
      </p:sp>
      <p:sp>
        <p:nvSpPr>
          <p:cNvPr id="16" name="Slide Number Placeholder 9">
            <a:extLst>
              <a:ext uri="{FF2B5EF4-FFF2-40B4-BE49-F238E27FC236}">
                <a16:creationId xmlns:a16="http://schemas.microsoft.com/office/drawing/2014/main" id="{29FBC19A-F286-354A-8C0E-185F88DFD68B}"/>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14</a:t>
            </a:fld>
            <a:endParaRPr lang="en-US" dirty="0"/>
          </a:p>
        </p:txBody>
      </p:sp>
      <p:graphicFrame>
        <p:nvGraphicFramePr>
          <p:cNvPr id="5" name="Table 4">
            <a:extLst>
              <a:ext uri="{FF2B5EF4-FFF2-40B4-BE49-F238E27FC236}">
                <a16:creationId xmlns:a16="http://schemas.microsoft.com/office/drawing/2014/main" id="{DA5B901A-8446-C153-31C2-08F2E2B8D452}"/>
              </a:ext>
            </a:extLst>
          </p:cNvPr>
          <p:cNvGraphicFramePr>
            <a:graphicFrameLocks noGrp="1"/>
          </p:cNvGraphicFramePr>
          <p:nvPr>
            <p:extLst>
              <p:ext uri="{D42A27DB-BD31-4B8C-83A1-F6EECF244321}">
                <p14:modId xmlns:p14="http://schemas.microsoft.com/office/powerpoint/2010/main" val="4015192773"/>
              </p:ext>
            </p:extLst>
          </p:nvPr>
        </p:nvGraphicFramePr>
        <p:xfrm>
          <a:off x="568960" y="2029968"/>
          <a:ext cx="11153384" cy="4488011"/>
        </p:xfrm>
        <a:graphic>
          <a:graphicData uri="http://schemas.openxmlformats.org/drawingml/2006/table">
            <a:tbl>
              <a:tblPr firstRow="1" bandRow="1">
                <a:tableStyleId>{0E3FDE45-AF77-4B5C-9715-49D594BDF05E}</a:tableStyleId>
              </a:tblPr>
              <a:tblGrid>
                <a:gridCol w="2788346">
                  <a:extLst>
                    <a:ext uri="{9D8B030D-6E8A-4147-A177-3AD203B41FA5}">
                      <a16:colId xmlns:a16="http://schemas.microsoft.com/office/drawing/2014/main" val="1980766436"/>
                    </a:ext>
                  </a:extLst>
                </a:gridCol>
                <a:gridCol w="2788346">
                  <a:extLst>
                    <a:ext uri="{9D8B030D-6E8A-4147-A177-3AD203B41FA5}">
                      <a16:colId xmlns:a16="http://schemas.microsoft.com/office/drawing/2014/main" val="1313222292"/>
                    </a:ext>
                  </a:extLst>
                </a:gridCol>
                <a:gridCol w="2788346">
                  <a:extLst>
                    <a:ext uri="{9D8B030D-6E8A-4147-A177-3AD203B41FA5}">
                      <a16:colId xmlns:a16="http://schemas.microsoft.com/office/drawing/2014/main" val="2056685564"/>
                    </a:ext>
                  </a:extLst>
                </a:gridCol>
                <a:gridCol w="2788346">
                  <a:extLst>
                    <a:ext uri="{9D8B030D-6E8A-4147-A177-3AD203B41FA5}">
                      <a16:colId xmlns:a16="http://schemas.microsoft.com/office/drawing/2014/main" val="2959581502"/>
                    </a:ext>
                  </a:extLst>
                </a:gridCol>
              </a:tblGrid>
              <a:tr h="1287611">
                <a:tc>
                  <a:txBody>
                    <a:bodyPr/>
                    <a:lstStyle/>
                    <a:p>
                      <a:r>
                        <a:rPr lang="en-GB" dirty="0"/>
                        <a:t>Algorithm</a:t>
                      </a:r>
                    </a:p>
                  </a:txBody>
                  <a:tcPr>
                    <a:solidFill>
                      <a:schemeClr val="accent2">
                        <a:lumMod val="75000"/>
                      </a:schemeClr>
                    </a:solidFill>
                  </a:tcPr>
                </a:tc>
                <a:tc>
                  <a:txBody>
                    <a:bodyPr/>
                    <a:lstStyle/>
                    <a:p>
                      <a:r>
                        <a:rPr lang="en-GB" dirty="0"/>
                        <a:t>Advantages</a:t>
                      </a:r>
                    </a:p>
                  </a:txBody>
                  <a:tcPr>
                    <a:solidFill>
                      <a:schemeClr val="accent2">
                        <a:lumMod val="75000"/>
                      </a:schemeClr>
                    </a:solidFill>
                  </a:tcPr>
                </a:tc>
                <a:tc>
                  <a:txBody>
                    <a:bodyPr/>
                    <a:lstStyle/>
                    <a:p>
                      <a:r>
                        <a:rPr lang="en-GB" dirty="0"/>
                        <a:t>Disadvantages</a:t>
                      </a:r>
                    </a:p>
                  </a:txBody>
                  <a:tcPr>
                    <a:solidFill>
                      <a:schemeClr val="accent2">
                        <a:lumMod val="75000"/>
                      </a:schemeClr>
                    </a:solidFill>
                  </a:tcPr>
                </a:tc>
                <a:tc>
                  <a:txBody>
                    <a:bodyPr/>
                    <a:lstStyle/>
                    <a:p>
                      <a:r>
                        <a:rPr lang="en-GB" dirty="0"/>
                        <a:t>Best Suited For</a:t>
                      </a:r>
                    </a:p>
                  </a:txBody>
                  <a:tcPr>
                    <a:solidFill>
                      <a:schemeClr val="accent2">
                        <a:lumMod val="75000"/>
                      </a:schemeClr>
                    </a:solidFill>
                  </a:tcPr>
                </a:tc>
                <a:extLst>
                  <a:ext uri="{0D108BD9-81ED-4DB2-BD59-A6C34878D82A}">
                    <a16:rowId xmlns:a16="http://schemas.microsoft.com/office/drawing/2014/main" val="1830389056"/>
                  </a:ext>
                </a:extLst>
              </a:tr>
              <a:tr h="1287611">
                <a:tc>
                  <a:txBody>
                    <a:bodyPr/>
                    <a:lstStyle/>
                    <a:p>
                      <a:r>
                        <a:rPr lang="en-GB" dirty="0"/>
                        <a:t>BFS</a:t>
                      </a:r>
                    </a:p>
                  </a:txBody>
                  <a:tcPr/>
                </a:tc>
                <a:tc>
                  <a:txBody>
                    <a:bodyPr/>
                    <a:lstStyle/>
                    <a:p>
                      <a:r>
                        <a:rPr lang="en-GB" dirty="0"/>
                        <a:t>• Guarantees finding the shallowest, most optimal solution path.</a:t>
                      </a:r>
                    </a:p>
                    <a:p>
                      <a:r>
                        <a:rPr lang="en-GB" dirty="0"/>
                        <a:t>• Avoids getting stuck in infinite loops.</a:t>
                      </a:r>
                    </a:p>
                    <a:p>
                      <a:endParaRPr lang="en-GB" dirty="0"/>
                    </a:p>
                  </a:txBody>
                  <a:tcPr/>
                </a:tc>
                <a:tc>
                  <a:txBody>
                    <a:bodyPr/>
                    <a:lstStyle/>
                    <a:p>
                      <a:r>
                        <a:rPr lang="en-GB" sz="1800" kern="1200" dirty="0">
                          <a:solidFill>
                            <a:schemeClr val="tx1"/>
                          </a:solidFill>
                          <a:effectLst/>
                          <a:latin typeface="+mn-lt"/>
                          <a:ea typeface="+mn-ea"/>
                          <a:cs typeface="+mn-cs"/>
                        </a:rPr>
                        <a:t>• High memory footprint </a:t>
                      </a:r>
                      <a:r>
                        <a:rPr lang="en-GB" sz="1800" b="1" kern="1200" dirty="0">
                          <a:solidFill>
                            <a:schemeClr val="tx1"/>
                          </a:solidFill>
                          <a:effectLst/>
                          <a:latin typeface="+mn-lt"/>
                          <a:ea typeface="+mn-ea"/>
                          <a:cs typeface="+mn-cs"/>
                        </a:rPr>
                        <a:t>O(b</a:t>
                      </a:r>
                      <a:r>
                        <a:rPr lang="en-GB" sz="1800" b="1" kern="1200" baseline="30000" dirty="0">
                          <a:solidFill>
                            <a:schemeClr val="tx1"/>
                          </a:solidFill>
                          <a:effectLst/>
                          <a:latin typeface="+mn-lt"/>
                          <a:ea typeface="+mn-ea"/>
                          <a:cs typeface="+mn-cs"/>
                        </a:rPr>
                        <a:t>d</a:t>
                      </a:r>
                      <a:r>
                        <a:rPr lang="en-GB" sz="1800" b="1" kern="1200" dirty="0">
                          <a:solidFill>
                            <a:schemeClr val="tx1"/>
                          </a:solidFill>
                          <a:effectLst/>
                          <a:latin typeface="+mn-lt"/>
                          <a:ea typeface="+mn-ea"/>
                          <a:cs typeface="+mn-cs"/>
                        </a:rPr>
                        <a:t>) </a:t>
                      </a:r>
                      <a:r>
                        <a:rPr lang="en-GB" sz="1800" kern="1200" dirty="0">
                          <a:solidFill>
                            <a:schemeClr val="tx1"/>
                          </a:solidFill>
                          <a:effectLst/>
                          <a:latin typeface="+mn-lt"/>
                          <a:ea typeface="+mn-ea"/>
                          <a:cs typeface="+mn-cs"/>
                        </a:rPr>
                        <a:t>because it holds all open frontier nodes in memory.</a:t>
                      </a:r>
                      <a:r>
                        <a:rPr lang="en-GB" dirty="0"/>
                        <a:t> </a:t>
                      </a:r>
                    </a:p>
                  </a:txBody>
                  <a:tcPr/>
                </a:tc>
                <a:tc>
                  <a:txBody>
                    <a:bodyPr/>
                    <a:lstStyle/>
                    <a:p>
                      <a:r>
                        <a:rPr lang="en-GB" dirty="0"/>
                        <a:t>Problems where the solution is close to the root, or path optimality is critical.</a:t>
                      </a:r>
                    </a:p>
                  </a:txBody>
                  <a:tcPr/>
                </a:tc>
                <a:extLst>
                  <a:ext uri="{0D108BD9-81ED-4DB2-BD59-A6C34878D82A}">
                    <a16:rowId xmlns:a16="http://schemas.microsoft.com/office/drawing/2014/main" val="804153190"/>
                  </a:ext>
                </a:extLst>
              </a:tr>
              <a:tr h="1287611">
                <a:tc>
                  <a:txBody>
                    <a:bodyPr/>
                    <a:lstStyle/>
                    <a:p>
                      <a:endParaRPr lang="en-GB" dirty="0"/>
                    </a:p>
                  </a:txBody>
                  <a:tcPr>
                    <a:solidFill>
                      <a:schemeClr val="accent2">
                        <a:lumMod val="75000"/>
                      </a:schemeClr>
                    </a:solidFill>
                  </a:tcPr>
                </a:tc>
                <a:tc>
                  <a:txBody>
                    <a:bodyPr/>
                    <a:lstStyle/>
                    <a:p>
                      <a:r>
                        <a:rPr lang="en-GB" sz="1800" kern="1200" dirty="0">
                          <a:solidFill>
                            <a:schemeClr val="tx1"/>
                          </a:solidFill>
                          <a:effectLst/>
                          <a:latin typeface="+mn-lt"/>
                          <a:ea typeface="+mn-ea"/>
                          <a:cs typeface="+mn-cs"/>
                        </a:rPr>
                        <a:t>• Low memory requirement </a:t>
                      </a:r>
                      <a:r>
                        <a:rPr lang="en-GB" sz="1800" b="1" kern="1200" dirty="0">
                          <a:solidFill>
                            <a:schemeClr val="tx1"/>
                          </a:solidFill>
                          <a:effectLst/>
                          <a:latin typeface="+mn-lt"/>
                          <a:ea typeface="+mn-ea"/>
                          <a:cs typeface="+mn-cs"/>
                        </a:rPr>
                        <a:t>O(b * d).</a:t>
                      </a:r>
                      <a:endParaRPr lang="en-GB" b="1" dirty="0"/>
                    </a:p>
                    <a:p>
                      <a:r>
                        <a:rPr lang="en-GB" sz="1800" kern="1200" dirty="0">
                          <a:solidFill>
                            <a:schemeClr val="tx1"/>
                          </a:solidFill>
                          <a:effectLst/>
                          <a:latin typeface="+mn-lt"/>
                          <a:ea typeface="+mn-ea"/>
                          <a:cs typeface="+mn-cs"/>
                        </a:rPr>
                        <a:t>• Can quickly find deep solutions if well-guided.</a:t>
                      </a:r>
                    </a:p>
                    <a:p>
                      <a:endParaRPr lang="en-GB" dirty="0"/>
                    </a:p>
                  </a:txBody>
                  <a:tcPr>
                    <a:solidFill>
                      <a:schemeClr val="accent2">
                        <a:lumMod val="75000"/>
                      </a:schemeClr>
                    </a:solidFill>
                  </a:tcPr>
                </a:tc>
                <a:tc>
                  <a:txBody>
                    <a:bodyPr/>
                    <a:lstStyle/>
                    <a:p>
                      <a:r>
                        <a:rPr lang="en-GB" dirty="0"/>
                        <a:t>• Not guaranteed to find the shortest path.</a:t>
                      </a:r>
                    </a:p>
                    <a:p>
                      <a:r>
                        <a:rPr lang="en-GB" dirty="0"/>
                        <a:t>• Risks getting trapped down infinite branches.</a:t>
                      </a:r>
                    </a:p>
                    <a:p>
                      <a:endParaRPr lang="en-GB" dirty="0"/>
                    </a:p>
                  </a:txBody>
                  <a:tcPr>
                    <a:solidFill>
                      <a:schemeClr val="accent2">
                        <a:lumMod val="75000"/>
                      </a:schemeClr>
                    </a:solidFill>
                  </a:tcPr>
                </a:tc>
                <a:tc>
                  <a:txBody>
                    <a:bodyPr/>
                    <a:lstStyle/>
                    <a:p>
                      <a:r>
                        <a:rPr lang="en-GB" dirty="0"/>
                        <a:t>Graph problems with many alternative solutions, deep target nodes, or severe memory limits.</a:t>
                      </a:r>
                    </a:p>
                  </a:txBody>
                  <a:tcPr>
                    <a:solidFill>
                      <a:schemeClr val="accent2">
                        <a:lumMod val="75000"/>
                      </a:schemeClr>
                    </a:solidFill>
                  </a:tcPr>
                </a:tc>
                <a:extLst>
                  <a:ext uri="{0D108BD9-81ED-4DB2-BD59-A6C34878D82A}">
                    <a16:rowId xmlns:a16="http://schemas.microsoft.com/office/drawing/2014/main" val="3237264121"/>
                  </a:ext>
                </a:extLst>
              </a:tr>
            </a:tbl>
          </a:graphicData>
        </a:graphic>
      </p:graphicFrame>
    </p:spTree>
    <p:extLst>
      <p:ext uri="{BB962C8B-B14F-4D97-AF65-F5344CB8AC3E}">
        <p14:creationId xmlns:p14="http://schemas.microsoft.com/office/powerpoint/2010/main" val="807608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D7F7C190-11C0-EE54-E793-DA47A83E73F5}"/>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91E01941-3082-812A-29B9-0E49F4A657EA}"/>
              </a:ext>
            </a:extLst>
          </p:cNvPr>
          <p:cNvSpPr txBox="1">
            <a:spLocks/>
          </p:cNvSpPr>
          <p:nvPr/>
        </p:nvSpPr>
        <p:spPr>
          <a:xfrm>
            <a:off x="469656" y="181864"/>
            <a:ext cx="10277856" cy="1655064"/>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GB" sz="3600" dirty="0"/>
              <a:t>4.d. How does the use of a closed node list reduce the amount of search required in graph search?</a:t>
            </a:r>
            <a:endParaRPr lang="en-US" sz="2800" dirty="0"/>
          </a:p>
        </p:txBody>
      </p:sp>
      <p:sp>
        <p:nvSpPr>
          <p:cNvPr id="15" name="Content Placeholder 2">
            <a:extLst>
              <a:ext uri="{FF2B5EF4-FFF2-40B4-BE49-F238E27FC236}">
                <a16:creationId xmlns:a16="http://schemas.microsoft.com/office/drawing/2014/main" id="{7CD72D1B-DC4F-FE7B-63E7-56426D497C63}"/>
              </a:ext>
            </a:extLst>
          </p:cNvPr>
          <p:cNvSpPr txBox="1">
            <a:spLocks/>
          </p:cNvSpPr>
          <p:nvPr/>
        </p:nvSpPr>
        <p:spPr>
          <a:xfrm>
            <a:off x="469656" y="2021840"/>
            <a:ext cx="10665704" cy="71120"/>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A closed node list tracks all states that have already been expanded. Before expanding a new state, the algorithm checks the closed list. If the state is found, it is discarded. This prevents the algorithm from falling into infinite loops caused by cycles, and avoids wasting time re-evaluating duplicate states over and over again.</a:t>
            </a:r>
            <a:endParaRPr lang="en-GB" b="1" dirty="0"/>
          </a:p>
        </p:txBody>
      </p:sp>
      <p:sp>
        <p:nvSpPr>
          <p:cNvPr id="16" name="Slide Number Placeholder 9">
            <a:extLst>
              <a:ext uri="{FF2B5EF4-FFF2-40B4-BE49-F238E27FC236}">
                <a16:creationId xmlns:a16="http://schemas.microsoft.com/office/drawing/2014/main" id="{A8BAF360-F98C-CD5B-0BAC-FF9347B4BA81}"/>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15</a:t>
            </a:fld>
            <a:endParaRPr lang="en-US" dirty="0"/>
          </a:p>
        </p:txBody>
      </p:sp>
    </p:spTree>
    <p:extLst>
      <p:ext uri="{BB962C8B-B14F-4D97-AF65-F5344CB8AC3E}">
        <p14:creationId xmlns:p14="http://schemas.microsoft.com/office/powerpoint/2010/main" val="3330784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8F5DF209-6B9F-93E9-D701-9E762F3FDD1B}"/>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27EE5E98-684E-6D25-5BEB-52D7105C3158}"/>
              </a:ext>
            </a:extLst>
          </p:cNvPr>
          <p:cNvSpPr txBox="1">
            <a:spLocks/>
          </p:cNvSpPr>
          <p:nvPr/>
        </p:nvSpPr>
        <p:spPr>
          <a:xfrm>
            <a:off x="469656" y="1062048"/>
            <a:ext cx="10277856" cy="1655064"/>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GB" sz="2400" dirty="0"/>
              <a:t>4.e. "A farmer with his dog, rabbit and lettuce come to the east side of a river they wish to cross. There is a boat at the river’s edge, but of course only the farmer can row. The boat can only hold two things (including the rower) at any one time. If the dog is ever left alone with the rabbit, the dog will eat it. Similarly, if the rabbit is ever left alone with the lettuce, the rabbit will eat it. How can the farmer get across the river so that all four characters arrive safely on the other side?"</a:t>
            </a:r>
            <a:endParaRPr lang="en-US" sz="1800" dirty="0"/>
          </a:p>
        </p:txBody>
      </p:sp>
      <p:sp>
        <p:nvSpPr>
          <p:cNvPr id="15" name="Content Placeholder 2">
            <a:extLst>
              <a:ext uri="{FF2B5EF4-FFF2-40B4-BE49-F238E27FC236}">
                <a16:creationId xmlns:a16="http://schemas.microsoft.com/office/drawing/2014/main" id="{5163E1FA-CEC3-5876-9C44-2163843297FC}"/>
              </a:ext>
            </a:extLst>
          </p:cNvPr>
          <p:cNvSpPr txBox="1">
            <a:spLocks/>
          </p:cNvSpPr>
          <p:nvPr/>
        </p:nvSpPr>
        <p:spPr>
          <a:xfrm>
            <a:off x="469656" y="2794000"/>
            <a:ext cx="10665704" cy="71120"/>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b="1" dirty="0"/>
          </a:p>
        </p:txBody>
      </p:sp>
      <p:sp>
        <p:nvSpPr>
          <p:cNvPr id="16" name="Slide Number Placeholder 9">
            <a:extLst>
              <a:ext uri="{FF2B5EF4-FFF2-40B4-BE49-F238E27FC236}">
                <a16:creationId xmlns:a16="http://schemas.microsoft.com/office/drawing/2014/main" id="{AC776768-EB93-C2FE-5316-7387FA60F662}"/>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16</a:t>
            </a:fld>
            <a:endParaRPr lang="en-US" dirty="0"/>
          </a:p>
        </p:txBody>
      </p:sp>
    </p:spTree>
    <p:extLst>
      <p:ext uri="{BB962C8B-B14F-4D97-AF65-F5344CB8AC3E}">
        <p14:creationId xmlns:p14="http://schemas.microsoft.com/office/powerpoint/2010/main" val="30143669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708A25A9-BEFF-7E51-5133-A0325BBC61C3}"/>
            </a:ext>
          </a:extLst>
        </p:cNvPr>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F6C01668-A32A-1BE7-F5A1-7B3C5FFFD1ED}"/>
              </a:ext>
            </a:extLst>
          </p:cNvPr>
          <p:cNvSpPr txBox="1">
            <a:spLocks/>
          </p:cNvSpPr>
          <p:nvPr/>
        </p:nvSpPr>
        <p:spPr>
          <a:xfrm>
            <a:off x="469656" y="2794000"/>
            <a:ext cx="10665704" cy="71120"/>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b="1" dirty="0"/>
          </a:p>
        </p:txBody>
      </p:sp>
      <p:sp>
        <p:nvSpPr>
          <p:cNvPr id="16" name="Slide Number Placeholder 9">
            <a:extLst>
              <a:ext uri="{FF2B5EF4-FFF2-40B4-BE49-F238E27FC236}">
                <a16:creationId xmlns:a16="http://schemas.microsoft.com/office/drawing/2014/main" id="{9027D3B7-2B91-D24F-8E8F-E4683F838E07}"/>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17</a:t>
            </a:fld>
            <a:endParaRPr lang="en-US" dirty="0"/>
          </a:p>
        </p:txBody>
      </p:sp>
      <p:sp>
        <p:nvSpPr>
          <p:cNvPr id="3" name="TextBox 2">
            <a:extLst>
              <a:ext uri="{FF2B5EF4-FFF2-40B4-BE49-F238E27FC236}">
                <a16:creationId xmlns:a16="http://schemas.microsoft.com/office/drawing/2014/main" id="{DDBBCADB-FD0F-4B48-85ED-AED7D3081CD3}"/>
              </a:ext>
            </a:extLst>
          </p:cNvPr>
          <p:cNvSpPr txBox="1"/>
          <p:nvPr/>
        </p:nvSpPr>
        <p:spPr>
          <a:xfrm>
            <a:off x="469656" y="300226"/>
            <a:ext cx="6979920" cy="646331"/>
          </a:xfrm>
          <a:prstGeom prst="rect">
            <a:avLst/>
          </a:prstGeom>
          <a:noFill/>
        </p:spPr>
        <p:txBody>
          <a:bodyPr wrap="square">
            <a:spAutoFit/>
          </a:bodyPr>
          <a:lstStyle/>
          <a:p>
            <a:pPr>
              <a:buNone/>
            </a:pPr>
            <a:r>
              <a:rPr lang="en-GB" b="1" dirty="0">
                <a:effectLst/>
                <a:latin typeface="Google Sans Text"/>
              </a:rPr>
              <a:t>Initial State:</a:t>
            </a:r>
            <a:r>
              <a:rPr lang="en-GB" dirty="0">
                <a:effectLst/>
                <a:latin typeface="Google Sans Text"/>
              </a:rPr>
              <a:t> </a:t>
            </a:r>
            <a:r>
              <a:rPr lang="en-GB" b="1" dirty="0">
                <a:latin typeface="Google Sans Text"/>
              </a:rPr>
              <a:t>(</a:t>
            </a:r>
            <a:r>
              <a:rPr lang="en-GB" b="1" dirty="0">
                <a:effectLst/>
                <a:latin typeface="Google Sans Text"/>
              </a:rPr>
              <a:t>E, E, E, E) </a:t>
            </a:r>
            <a:r>
              <a:rPr lang="en-GB" dirty="0">
                <a:effectLst/>
                <a:latin typeface="Google Sans Text"/>
              </a:rPr>
              <a:t>— Everyone is on the East Bank.</a:t>
            </a:r>
          </a:p>
          <a:p>
            <a:pPr>
              <a:buNone/>
            </a:pPr>
            <a:r>
              <a:rPr lang="en-GB" b="1" dirty="0">
                <a:effectLst/>
                <a:latin typeface="Google Sans Text"/>
              </a:rPr>
              <a:t>Target State:</a:t>
            </a:r>
            <a:r>
              <a:rPr lang="en-GB" dirty="0">
                <a:effectLst/>
                <a:latin typeface="Google Sans Text"/>
              </a:rPr>
              <a:t> </a:t>
            </a:r>
            <a:r>
              <a:rPr lang="en-GB" b="1" dirty="0">
                <a:effectLst/>
                <a:latin typeface="Google Sans Text"/>
              </a:rPr>
              <a:t>(W, W, W, W) </a:t>
            </a:r>
            <a:r>
              <a:rPr lang="en-GB" dirty="0">
                <a:effectLst/>
                <a:latin typeface="Google Sans Text"/>
              </a:rPr>
              <a:t>— Everyone has crossed to the West Bank.</a:t>
            </a:r>
          </a:p>
        </p:txBody>
      </p:sp>
      <p:sp>
        <p:nvSpPr>
          <p:cNvPr id="5" name="TextBox 4">
            <a:extLst>
              <a:ext uri="{FF2B5EF4-FFF2-40B4-BE49-F238E27FC236}">
                <a16:creationId xmlns:a16="http://schemas.microsoft.com/office/drawing/2014/main" id="{99401A06-A8C3-A8C4-F1C4-D9FD9EB1ED5C}"/>
              </a:ext>
            </a:extLst>
          </p:cNvPr>
          <p:cNvSpPr txBox="1"/>
          <p:nvPr/>
        </p:nvSpPr>
        <p:spPr>
          <a:xfrm>
            <a:off x="469656" y="1052681"/>
            <a:ext cx="6096000" cy="923330"/>
          </a:xfrm>
          <a:prstGeom prst="rect">
            <a:avLst/>
          </a:prstGeom>
          <a:noFill/>
        </p:spPr>
        <p:txBody>
          <a:bodyPr wrap="square">
            <a:spAutoFit/>
          </a:bodyPr>
          <a:lstStyle/>
          <a:p>
            <a:pPr>
              <a:buNone/>
            </a:pPr>
            <a:r>
              <a:rPr lang="en-GB" b="1" dirty="0">
                <a:effectLst/>
                <a:latin typeface="Google Sans Text"/>
              </a:rPr>
              <a:t>Initial State: [F: E, , D: E, , R: E, , L: E]</a:t>
            </a:r>
          </a:p>
          <a:p>
            <a:pPr>
              <a:buFont typeface="Arial" panose="020B0604020202020204" pitchFamily="34" charset="0"/>
              <a:buChar char="•"/>
            </a:pPr>
            <a:r>
              <a:rPr lang="en-GB" i="1" dirty="0">
                <a:effectLst/>
                <a:latin typeface="Google Sans Text"/>
              </a:rPr>
              <a:t>Action:</a:t>
            </a:r>
            <a:r>
              <a:rPr lang="en-GB" dirty="0">
                <a:effectLst/>
                <a:latin typeface="Google Sans Text"/>
              </a:rPr>
              <a:t> Farmer takes the Rabbit to the West Bank.</a:t>
            </a:r>
          </a:p>
          <a:p>
            <a:pPr>
              <a:buFont typeface="Arial" panose="020B0604020202020204" pitchFamily="34" charset="0"/>
              <a:buChar char="•"/>
            </a:pPr>
            <a:r>
              <a:rPr lang="en-GB" dirty="0">
                <a:effectLst/>
                <a:latin typeface="Google Sans Text"/>
              </a:rPr>
              <a:t>(The Dog and Lettuce are left on the East bank, which is safe).</a:t>
            </a:r>
          </a:p>
        </p:txBody>
      </p:sp>
      <p:sp>
        <p:nvSpPr>
          <p:cNvPr id="7" name="TextBox 6">
            <a:extLst>
              <a:ext uri="{FF2B5EF4-FFF2-40B4-BE49-F238E27FC236}">
                <a16:creationId xmlns:a16="http://schemas.microsoft.com/office/drawing/2014/main" id="{A6DD52D0-4EF0-63C9-B9AD-4B59D87F4BCC}"/>
              </a:ext>
            </a:extLst>
          </p:cNvPr>
          <p:cNvSpPr txBox="1"/>
          <p:nvPr/>
        </p:nvSpPr>
        <p:spPr>
          <a:xfrm>
            <a:off x="469656" y="1886357"/>
            <a:ext cx="6096000" cy="646331"/>
          </a:xfrm>
          <a:prstGeom prst="rect">
            <a:avLst/>
          </a:prstGeom>
          <a:noFill/>
        </p:spPr>
        <p:txBody>
          <a:bodyPr wrap="square">
            <a:spAutoFit/>
          </a:bodyPr>
          <a:lstStyle/>
          <a:p>
            <a:pPr>
              <a:buNone/>
            </a:pPr>
            <a:r>
              <a:rPr lang="en-GB" b="1" dirty="0">
                <a:effectLst/>
                <a:latin typeface="Google Sans Text"/>
              </a:rPr>
              <a:t>State 2:</a:t>
            </a:r>
            <a:r>
              <a:rPr lang="en-GB" dirty="0">
                <a:effectLst/>
                <a:latin typeface="Google Sans Text"/>
              </a:rPr>
              <a:t> </a:t>
            </a:r>
            <a:r>
              <a:rPr lang="en-GB" b="1" dirty="0">
                <a:effectLst/>
                <a:latin typeface="Google Sans Text"/>
              </a:rPr>
              <a:t>[F: W, , D: E, R: W, L: E]</a:t>
            </a:r>
          </a:p>
          <a:p>
            <a:pPr>
              <a:buFont typeface="Arial" panose="020B0604020202020204" pitchFamily="34" charset="0"/>
              <a:buChar char="•"/>
            </a:pPr>
            <a:r>
              <a:rPr lang="en-GB" i="1" dirty="0">
                <a:effectLst/>
                <a:latin typeface="Google Sans Text"/>
              </a:rPr>
              <a:t>Action:</a:t>
            </a:r>
            <a:r>
              <a:rPr lang="en-GB" dirty="0">
                <a:effectLst/>
                <a:latin typeface="Google Sans Text"/>
              </a:rPr>
              <a:t> Farmer returns alone to the East Bank.</a:t>
            </a:r>
          </a:p>
        </p:txBody>
      </p:sp>
      <p:sp>
        <p:nvSpPr>
          <p:cNvPr id="9" name="TextBox 8">
            <a:extLst>
              <a:ext uri="{FF2B5EF4-FFF2-40B4-BE49-F238E27FC236}">
                <a16:creationId xmlns:a16="http://schemas.microsoft.com/office/drawing/2014/main" id="{A1C140B3-ED08-0A7B-6553-857E4A9B0BF9}"/>
              </a:ext>
            </a:extLst>
          </p:cNvPr>
          <p:cNvSpPr txBox="1"/>
          <p:nvPr/>
        </p:nvSpPr>
        <p:spPr>
          <a:xfrm>
            <a:off x="469656" y="2452975"/>
            <a:ext cx="6096000" cy="646331"/>
          </a:xfrm>
          <a:prstGeom prst="rect">
            <a:avLst/>
          </a:prstGeom>
          <a:noFill/>
        </p:spPr>
        <p:txBody>
          <a:bodyPr wrap="square">
            <a:spAutoFit/>
          </a:bodyPr>
          <a:lstStyle/>
          <a:p>
            <a:pPr>
              <a:buNone/>
            </a:pPr>
            <a:r>
              <a:rPr lang="en-GB" b="1" dirty="0">
                <a:effectLst/>
                <a:latin typeface="Google Sans Text"/>
              </a:rPr>
              <a:t>State 3:</a:t>
            </a:r>
            <a:r>
              <a:rPr lang="en-GB" dirty="0">
                <a:effectLst/>
                <a:latin typeface="Google Sans Text"/>
              </a:rPr>
              <a:t> </a:t>
            </a:r>
            <a:r>
              <a:rPr lang="en-GB" b="1" dirty="0">
                <a:effectLst/>
                <a:latin typeface="Google Sans Text"/>
              </a:rPr>
              <a:t>[F: E, D: E, R: W, L: E]</a:t>
            </a:r>
          </a:p>
          <a:p>
            <a:pPr>
              <a:buFont typeface="Arial" panose="020B0604020202020204" pitchFamily="34" charset="0"/>
              <a:buChar char="•"/>
            </a:pPr>
            <a:r>
              <a:rPr lang="en-GB" i="1" dirty="0">
                <a:effectLst/>
                <a:latin typeface="Google Sans Text"/>
              </a:rPr>
              <a:t>Action:</a:t>
            </a:r>
            <a:r>
              <a:rPr lang="en-GB" dirty="0">
                <a:effectLst/>
                <a:latin typeface="Google Sans Text"/>
              </a:rPr>
              <a:t> Farmer takes the Lettuce to the West Bank.</a:t>
            </a:r>
          </a:p>
        </p:txBody>
      </p:sp>
      <p:sp>
        <p:nvSpPr>
          <p:cNvPr id="11" name="TextBox 10">
            <a:extLst>
              <a:ext uri="{FF2B5EF4-FFF2-40B4-BE49-F238E27FC236}">
                <a16:creationId xmlns:a16="http://schemas.microsoft.com/office/drawing/2014/main" id="{1477D87E-2E6B-7002-4D7D-3F9A40AFFBCD}"/>
              </a:ext>
            </a:extLst>
          </p:cNvPr>
          <p:cNvSpPr txBox="1"/>
          <p:nvPr/>
        </p:nvSpPr>
        <p:spPr>
          <a:xfrm>
            <a:off x="469656" y="3009652"/>
            <a:ext cx="6096000" cy="923330"/>
          </a:xfrm>
          <a:prstGeom prst="rect">
            <a:avLst/>
          </a:prstGeom>
          <a:noFill/>
        </p:spPr>
        <p:txBody>
          <a:bodyPr wrap="square">
            <a:spAutoFit/>
          </a:bodyPr>
          <a:lstStyle/>
          <a:p>
            <a:pPr>
              <a:buNone/>
            </a:pPr>
            <a:r>
              <a:rPr lang="en-GB" b="1" dirty="0">
                <a:effectLst/>
                <a:latin typeface="Google Sans Text"/>
              </a:rPr>
              <a:t>State 4:</a:t>
            </a:r>
            <a:r>
              <a:rPr lang="en-GB" dirty="0">
                <a:effectLst/>
                <a:latin typeface="Google Sans Text"/>
              </a:rPr>
              <a:t> </a:t>
            </a:r>
            <a:r>
              <a:rPr lang="en-GB" b="1" dirty="0">
                <a:effectLst/>
                <a:latin typeface="Google Sans Text"/>
              </a:rPr>
              <a:t>[F: W, D: E, R: W, L: W]</a:t>
            </a:r>
          </a:p>
          <a:p>
            <a:pPr>
              <a:buFont typeface="Arial" panose="020B0604020202020204" pitchFamily="34" charset="0"/>
              <a:buChar char="•"/>
            </a:pPr>
            <a:r>
              <a:rPr lang="en-GB" i="1" dirty="0">
                <a:effectLst/>
                <a:latin typeface="Google Sans Text"/>
              </a:rPr>
              <a:t>Action:</a:t>
            </a:r>
            <a:r>
              <a:rPr lang="en-GB" dirty="0">
                <a:effectLst/>
                <a:latin typeface="Google Sans Text"/>
              </a:rPr>
              <a:t> To protect the lettuce from the rabbit, the Farmer brings the Rabbit back to the East Bank.</a:t>
            </a:r>
          </a:p>
        </p:txBody>
      </p:sp>
      <p:sp>
        <p:nvSpPr>
          <p:cNvPr id="14" name="TextBox 13">
            <a:extLst>
              <a:ext uri="{FF2B5EF4-FFF2-40B4-BE49-F238E27FC236}">
                <a16:creationId xmlns:a16="http://schemas.microsoft.com/office/drawing/2014/main" id="{C94C5729-906E-F480-D635-85AA2C74788C}"/>
              </a:ext>
            </a:extLst>
          </p:cNvPr>
          <p:cNvSpPr txBox="1"/>
          <p:nvPr/>
        </p:nvSpPr>
        <p:spPr>
          <a:xfrm>
            <a:off x="469656" y="3830935"/>
            <a:ext cx="6096000" cy="923330"/>
          </a:xfrm>
          <a:prstGeom prst="rect">
            <a:avLst/>
          </a:prstGeom>
          <a:noFill/>
        </p:spPr>
        <p:txBody>
          <a:bodyPr wrap="square">
            <a:spAutoFit/>
          </a:bodyPr>
          <a:lstStyle/>
          <a:p>
            <a:pPr>
              <a:buNone/>
            </a:pPr>
            <a:r>
              <a:rPr lang="en-GB" b="1" dirty="0">
                <a:effectLst/>
                <a:latin typeface="Google Sans Text"/>
              </a:rPr>
              <a:t>State 5:</a:t>
            </a:r>
            <a:r>
              <a:rPr lang="en-GB" dirty="0">
                <a:effectLst/>
                <a:latin typeface="Google Sans Text"/>
              </a:rPr>
              <a:t> </a:t>
            </a:r>
            <a:r>
              <a:rPr lang="en-GB" b="1" dirty="0">
                <a:effectLst/>
                <a:latin typeface="Google Sans Text"/>
              </a:rPr>
              <a:t>[F: E, D: E, R: E, L: W]</a:t>
            </a:r>
          </a:p>
          <a:p>
            <a:pPr>
              <a:buFont typeface="Arial" panose="020B0604020202020204" pitchFamily="34" charset="0"/>
              <a:buChar char="•"/>
            </a:pPr>
            <a:r>
              <a:rPr lang="en-GB" i="1" dirty="0">
                <a:effectLst/>
                <a:latin typeface="Google Sans Text"/>
              </a:rPr>
              <a:t>Action:</a:t>
            </a:r>
            <a:r>
              <a:rPr lang="en-GB" dirty="0">
                <a:effectLst/>
                <a:latin typeface="Google Sans Text"/>
              </a:rPr>
              <a:t> To protect the rabbit from the dog, the Farmer leaves the rabbit and takes the Dog to the West Bank.</a:t>
            </a:r>
          </a:p>
        </p:txBody>
      </p:sp>
      <p:sp>
        <p:nvSpPr>
          <p:cNvPr id="18" name="TextBox 17">
            <a:extLst>
              <a:ext uri="{FF2B5EF4-FFF2-40B4-BE49-F238E27FC236}">
                <a16:creationId xmlns:a16="http://schemas.microsoft.com/office/drawing/2014/main" id="{A1256306-636D-70F5-6827-469001014B37}"/>
              </a:ext>
            </a:extLst>
          </p:cNvPr>
          <p:cNvSpPr txBox="1"/>
          <p:nvPr/>
        </p:nvSpPr>
        <p:spPr>
          <a:xfrm>
            <a:off x="469656" y="4664611"/>
            <a:ext cx="6096000" cy="923330"/>
          </a:xfrm>
          <a:prstGeom prst="rect">
            <a:avLst/>
          </a:prstGeom>
          <a:noFill/>
        </p:spPr>
        <p:txBody>
          <a:bodyPr wrap="square">
            <a:spAutoFit/>
          </a:bodyPr>
          <a:lstStyle/>
          <a:p>
            <a:pPr>
              <a:buNone/>
            </a:pPr>
            <a:r>
              <a:rPr lang="en-GB" b="1" dirty="0">
                <a:effectLst/>
                <a:latin typeface="Google Sans Text"/>
              </a:rPr>
              <a:t>State 6:</a:t>
            </a:r>
            <a:r>
              <a:rPr lang="en-GB" dirty="0">
                <a:effectLst/>
                <a:latin typeface="Google Sans Text"/>
              </a:rPr>
              <a:t> </a:t>
            </a:r>
            <a:r>
              <a:rPr lang="en-GB" b="1" dirty="0">
                <a:effectLst/>
                <a:latin typeface="Google Sans Text"/>
              </a:rPr>
              <a:t>[F: W, D: W,  R: E, L: W]</a:t>
            </a:r>
          </a:p>
          <a:p>
            <a:pPr>
              <a:buFont typeface="Arial" panose="020B0604020202020204" pitchFamily="34" charset="0"/>
              <a:buChar char="•"/>
            </a:pPr>
            <a:r>
              <a:rPr lang="en-GB" i="1" dirty="0">
                <a:effectLst/>
                <a:latin typeface="Google Sans Text"/>
              </a:rPr>
              <a:t>Action:</a:t>
            </a:r>
            <a:r>
              <a:rPr lang="en-GB" dirty="0">
                <a:effectLst/>
                <a:latin typeface="Google Sans Text"/>
              </a:rPr>
              <a:t> The Dog and Lettuce are safe together on the West Bank. The Farmer returns alone to the East Bank.</a:t>
            </a:r>
          </a:p>
        </p:txBody>
      </p:sp>
      <p:sp>
        <p:nvSpPr>
          <p:cNvPr id="20" name="TextBox 19">
            <a:extLst>
              <a:ext uri="{FF2B5EF4-FFF2-40B4-BE49-F238E27FC236}">
                <a16:creationId xmlns:a16="http://schemas.microsoft.com/office/drawing/2014/main" id="{98F55C9F-537B-18D5-0D84-8FBEC63B641E}"/>
              </a:ext>
            </a:extLst>
          </p:cNvPr>
          <p:cNvSpPr txBox="1"/>
          <p:nvPr/>
        </p:nvSpPr>
        <p:spPr>
          <a:xfrm>
            <a:off x="469656" y="5485894"/>
            <a:ext cx="6096000" cy="646331"/>
          </a:xfrm>
          <a:prstGeom prst="rect">
            <a:avLst/>
          </a:prstGeom>
          <a:noFill/>
        </p:spPr>
        <p:txBody>
          <a:bodyPr wrap="square">
            <a:spAutoFit/>
          </a:bodyPr>
          <a:lstStyle/>
          <a:p>
            <a:pPr>
              <a:buNone/>
            </a:pPr>
            <a:r>
              <a:rPr lang="en-GB" b="1" dirty="0">
                <a:effectLst/>
                <a:latin typeface="Google Sans Text"/>
              </a:rPr>
              <a:t>State 7:</a:t>
            </a:r>
            <a:r>
              <a:rPr lang="en-GB" dirty="0">
                <a:effectLst/>
                <a:latin typeface="Google Sans Text"/>
              </a:rPr>
              <a:t> </a:t>
            </a:r>
            <a:r>
              <a:rPr lang="en-GB" b="1" dirty="0">
                <a:effectLst/>
                <a:latin typeface="Google Sans Text"/>
              </a:rPr>
              <a:t>[F: E, D: W, R: E, L: W]</a:t>
            </a:r>
          </a:p>
          <a:p>
            <a:pPr>
              <a:buFont typeface="Arial" panose="020B0604020202020204" pitchFamily="34" charset="0"/>
              <a:buChar char="•"/>
            </a:pPr>
            <a:r>
              <a:rPr lang="en-GB" i="1" dirty="0">
                <a:effectLst/>
                <a:latin typeface="Google Sans Text"/>
              </a:rPr>
              <a:t>Action:</a:t>
            </a:r>
            <a:r>
              <a:rPr lang="en-GB" dirty="0">
                <a:effectLst/>
                <a:latin typeface="Google Sans Text"/>
              </a:rPr>
              <a:t> Farmer takes the Rabbit to the West Bank.</a:t>
            </a:r>
          </a:p>
        </p:txBody>
      </p:sp>
      <p:sp>
        <p:nvSpPr>
          <p:cNvPr id="22" name="TextBox 21">
            <a:extLst>
              <a:ext uri="{FF2B5EF4-FFF2-40B4-BE49-F238E27FC236}">
                <a16:creationId xmlns:a16="http://schemas.microsoft.com/office/drawing/2014/main" id="{B4C653B7-E936-29E3-F520-AAE77D8F313A}"/>
              </a:ext>
            </a:extLst>
          </p:cNvPr>
          <p:cNvSpPr txBox="1"/>
          <p:nvPr/>
        </p:nvSpPr>
        <p:spPr>
          <a:xfrm>
            <a:off x="5902960" y="2591474"/>
            <a:ext cx="6096000" cy="369332"/>
          </a:xfrm>
          <a:prstGeom prst="rect">
            <a:avLst/>
          </a:prstGeom>
          <a:noFill/>
        </p:spPr>
        <p:txBody>
          <a:bodyPr wrap="square">
            <a:spAutoFit/>
          </a:bodyPr>
          <a:lstStyle/>
          <a:p>
            <a:r>
              <a:rPr lang="en-GB" b="1" dirty="0">
                <a:effectLst/>
                <a:latin typeface="Google Sans Text"/>
              </a:rPr>
              <a:t>Final State:</a:t>
            </a:r>
            <a:r>
              <a:rPr lang="en-GB" dirty="0"/>
              <a:t> </a:t>
            </a:r>
            <a:r>
              <a:rPr lang="en-GB" b="1" dirty="0">
                <a:effectLst/>
                <a:latin typeface="Google Sans Text"/>
              </a:rPr>
              <a:t>[F: W, D: W, R: W, L: W]</a:t>
            </a:r>
            <a:r>
              <a:rPr lang="en-GB" b="1" dirty="0"/>
              <a:t> </a:t>
            </a:r>
            <a:r>
              <a:rPr lang="en-GB" dirty="0"/>
              <a:t>— </a:t>
            </a:r>
            <a:r>
              <a:rPr lang="en-GB" b="1" dirty="0">
                <a:effectLst/>
                <a:latin typeface="Google Sans Text"/>
              </a:rPr>
              <a:t>Success!</a:t>
            </a:r>
            <a:endParaRPr lang="en-GB" dirty="0"/>
          </a:p>
        </p:txBody>
      </p:sp>
    </p:spTree>
    <p:extLst>
      <p:ext uri="{BB962C8B-B14F-4D97-AF65-F5344CB8AC3E}">
        <p14:creationId xmlns:p14="http://schemas.microsoft.com/office/powerpoint/2010/main" val="1716987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AAD3F2B5-53B3-58DC-A2BC-E84DAD8AAF76}"/>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584F9025-09A1-DE8A-8645-3DF59DDAB0FC}"/>
              </a:ext>
            </a:extLst>
          </p:cNvPr>
          <p:cNvSpPr txBox="1">
            <a:spLocks/>
          </p:cNvSpPr>
          <p:nvPr/>
        </p:nvSpPr>
        <p:spPr>
          <a:xfrm>
            <a:off x="469656" y="402336"/>
            <a:ext cx="10277856" cy="1655064"/>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GB" sz="3200" dirty="0"/>
              <a:t>4.f. The state space of many two-player games (e.g. chess, checkers, and tic-tac-toe) can conveniently be represented as </a:t>
            </a:r>
            <a:r>
              <a:rPr lang="en-GB" sz="3200" dirty="0" err="1"/>
              <a:t>And/Or</a:t>
            </a:r>
            <a:r>
              <a:rPr lang="en-GB" sz="3200" dirty="0"/>
              <a:t> trees. Why? Give an example, stating which nodes are And </a:t>
            </a:r>
            <a:r>
              <a:rPr lang="en-GB" sz="3200" dirty="0" err="1"/>
              <a:t>and</a:t>
            </a:r>
            <a:r>
              <a:rPr lang="en-GB" sz="3200" dirty="0"/>
              <a:t> which are Or.</a:t>
            </a:r>
            <a:endParaRPr lang="en-US" sz="2400" dirty="0"/>
          </a:p>
        </p:txBody>
      </p:sp>
      <p:sp>
        <p:nvSpPr>
          <p:cNvPr id="15" name="Content Placeholder 2">
            <a:extLst>
              <a:ext uri="{FF2B5EF4-FFF2-40B4-BE49-F238E27FC236}">
                <a16:creationId xmlns:a16="http://schemas.microsoft.com/office/drawing/2014/main" id="{E5EBA083-FAF9-9613-BFF7-28A3794DE761}"/>
              </a:ext>
            </a:extLst>
          </p:cNvPr>
          <p:cNvSpPr txBox="1">
            <a:spLocks/>
          </p:cNvSpPr>
          <p:nvPr/>
        </p:nvSpPr>
        <p:spPr>
          <a:xfrm>
            <a:off x="469656" y="2021840"/>
            <a:ext cx="10665704" cy="71120"/>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In an adversarial two-player game, a player controls their own choices but cannot control the opponent's actions.</a:t>
            </a:r>
          </a:p>
          <a:p>
            <a:r>
              <a:rPr lang="en-GB" b="1" dirty="0"/>
              <a:t>OR Nodes:</a:t>
            </a:r>
            <a:r>
              <a:rPr lang="en-GB" dirty="0"/>
              <a:t> Represent your turn. You can choose any single branch that maximizes your chance of winning.</a:t>
            </a:r>
          </a:p>
          <a:p>
            <a:r>
              <a:rPr lang="en-GB" b="1" dirty="0"/>
              <a:t>AND Nodes:</a:t>
            </a:r>
            <a:r>
              <a:rPr lang="en-GB" dirty="0"/>
              <a:t> Represent your opponent's turn. To guarantee a winning strategy, your choice must handle </a:t>
            </a:r>
            <a:r>
              <a:rPr lang="en-GB" b="1" dirty="0"/>
              <a:t>all</a:t>
            </a:r>
            <a:r>
              <a:rPr lang="en-GB" dirty="0"/>
              <a:t> possible counter-moves the opponent might make. </a:t>
            </a:r>
          </a:p>
        </p:txBody>
      </p:sp>
      <p:sp>
        <p:nvSpPr>
          <p:cNvPr id="16" name="Slide Number Placeholder 9">
            <a:extLst>
              <a:ext uri="{FF2B5EF4-FFF2-40B4-BE49-F238E27FC236}">
                <a16:creationId xmlns:a16="http://schemas.microsoft.com/office/drawing/2014/main" id="{4AE8603C-2467-8753-B9A3-6B4E39517DD7}"/>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18</a:t>
            </a:fld>
            <a:endParaRPr lang="en-US" dirty="0"/>
          </a:p>
        </p:txBody>
      </p:sp>
    </p:spTree>
    <p:extLst>
      <p:ext uri="{BB962C8B-B14F-4D97-AF65-F5344CB8AC3E}">
        <p14:creationId xmlns:p14="http://schemas.microsoft.com/office/powerpoint/2010/main" val="1690017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1D5800D2-D803-70EE-5A22-9F76D4E3D37C}"/>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FF5FF343-F2AD-A039-DDD6-32E5C2B08F23}"/>
              </a:ext>
            </a:extLst>
          </p:cNvPr>
          <p:cNvSpPr txBox="1">
            <a:spLocks/>
          </p:cNvSpPr>
          <p:nvPr/>
        </p:nvSpPr>
        <p:spPr>
          <a:xfrm>
            <a:off x="469656" y="402336"/>
            <a:ext cx="10277856" cy="1655064"/>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GB" sz="3200" dirty="0"/>
              <a:t>4.f. The state space of many two-player games (e.g. chess, checkers, and tic-tac-toe) can conveniently be represented as </a:t>
            </a:r>
            <a:r>
              <a:rPr lang="en-GB" sz="3200" dirty="0" err="1"/>
              <a:t>And/Or</a:t>
            </a:r>
            <a:r>
              <a:rPr lang="en-GB" sz="3200" dirty="0"/>
              <a:t> trees. Why? Give an example, stating which nodes are And </a:t>
            </a:r>
            <a:r>
              <a:rPr lang="en-GB" sz="3200" dirty="0" err="1"/>
              <a:t>and</a:t>
            </a:r>
            <a:r>
              <a:rPr lang="en-GB" sz="3200" dirty="0"/>
              <a:t> which are Or.</a:t>
            </a:r>
            <a:endParaRPr lang="en-US" sz="2400" dirty="0"/>
          </a:p>
        </p:txBody>
      </p:sp>
      <p:sp>
        <p:nvSpPr>
          <p:cNvPr id="15" name="Content Placeholder 2">
            <a:extLst>
              <a:ext uri="{FF2B5EF4-FFF2-40B4-BE49-F238E27FC236}">
                <a16:creationId xmlns:a16="http://schemas.microsoft.com/office/drawing/2014/main" id="{236A5A13-5966-CD41-11FC-1D8A18905E26}"/>
              </a:ext>
            </a:extLst>
          </p:cNvPr>
          <p:cNvSpPr txBox="1">
            <a:spLocks/>
          </p:cNvSpPr>
          <p:nvPr/>
        </p:nvSpPr>
        <p:spPr>
          <a:xfrm>
            <a:off x="469656" y="2021840"/>
            <a:ext cx="10665704" cy="71120"/>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p>
        </p:txBody>
      </p:sp>
      <p:sp>
        <p:nvSpPr>
          <p:cNvPr id="16" name="Slide Number Placeholder 9">
            <a:extLst>
              <a:ext uri="{FF2B5EF4-FFF2-40B4-BE49-F238E27FC236}">
                <a16:creationId xmlns:a16="http://schemas.microsoft.com/office/drawing/2014/main" id="{46428BCA-EFA5-D604-7B07-A3E522102674}"/>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19</a:t>
            </a:fld>
            <a:endParaRPr lang="en-US" dirty="0"/>
          </a:p>
        </p:txBody>
      </p:sp>
      <p:sp>
        <p:nvSpPr>
          <p:cNvPr id="2" name="TextBox 1">
            <a:extLst>
              <a:ext uri="{FF2B5EF4-FFF2-40B4-BE49-F238E27FC236}">
                <a16:creationId xmlns:a16="http://schemas.microsoft.com/office/drawing/2014/main" id="{4948FC65-6AF2-4EFF-BAA3-9DE9CF996820}"/>
              </a:ext>
            </a:extLst>
          </p:cNvPr>
          <p:cNvSpPr txBox="1"/>
          <p:nvPr/>
        </p:nvSpPr>
        <p:spPr>
          <a:xfrm>
            <a:off x="4003040" y="2174240"/>
            <a:ext cx="2743200" cy="369332"/>
          </a:xfrm>
          <a:prstGeom prst="rect">
            <a:avLst/>
          </a:prstGeom>
          <a:noFill/>
        </p:spPr>
        <p:txBody>
          <a:bodyPr wrap="square" rtlCol="0">
            <a:spAutoFit/>
          </a:bodyPr>
          <a:lstStyle/>
          <a:p>
            <a:r>
              <a:rPr lang="en-GB" dirty="0"/>
              <a:t>Root State: X’s turn</a:t>
            </a:r>
          </a:p>
        </p:txBody>
      </p:sp>
      <p:sp>
        <p:nvSpPr>
          <p:cNvPr id="4" name="TextBox 3">
            <a:extLst>
              <a:ext uri="{FF2B5EF4-FFF2-40B4-BE49-F238E27FC236}">
                <a16:creationId xmlns:a16="http://schemas.microsoft.com/office/drawing/2014/main" id="{5F2B5E73-AD14-6C1B-4487-EF81AF7985CF}"/>
              </a:ext>
            </a:extLst>
          </p:cNvPr>
          <p:cNvSpPr txBox="1"/>
          <p:nvPr/>
        </p:nvSpPr>
        <p:spPr>
          <a:xfrm>
            <a:off x="2184400" y="3059668"/>
            <a:ext cx="1087120" cy="369332"/>
          </a:xfrm>
          <a:prstGeom prst="rect">
            <a:avLst/>
          </a:prstGeom>
          <a:noFill/>
        </p:spPr>
        <p:txBody>
          <a:bodyPr wrap="square" rtlCol="0">
            <a:spAutoFit/>
          </a:bodyPr>
          <a:lstStyle/>
          <a:p>
            <a:r>
              <a:rPr lang="en-GB" dirty="0"/>
              <a:t>Move 1</a:t>
            </a:r>
          </a:p>
        </p:txBody>
      </p:sp>
      <p:sp>
        <p:nvSpPr>
          <p:cNvPr id="6" name="TextBox 5">
            <a:extLst>
              <a:ext uri="{FF2B5EF4-FFF2-40B4-BE49-F238E27FC236}">
                <a16:creationId xmlns:a16="http://schemas.microsoft.com/office/drawing/2014/main" id="{12F3F809-6964-75A7-8E55-78033C3F54B6}"/>
              </a:ext>
            </a:extLst>
          </p:cNvPr>
          <p:cNvSpPr txBox="1"/>
          <p:nvPr/>
        </p:nvSpPr>
        <p:spPr>
          <a:xfrm>
            <a:off x="4969387" y="3085068"/>
            <a:ext cx="1087120" cy="369332"/>
          </a:xfrm>
          <a:prstGeom prst="rect">
            <a:avLst/>
          </a:prstGeom>
          <a:noFill/>
        </p:spPr>
        <p:txBody>
          <a:bodyPr wrap="square" rtlCol="0">
            <a:spAutoFit/>
          </a:bodyPr>
          <a:lstStyle/>
          <a:p>
            <a:r>
              <a:rPr lang="en-GB" dirty="0"/>
              <a:t>Move 2</a:t>
            </a:r>
          </a:p>
        </p:txBody>
      </p:sp>
      <p:sp>
        <p:nvSpPr>
          <p:cNvPr id="8" name="TextBox 7">
            <a:extLst>
              <a:ext uri="{FF2B5EF4-FFF2-40B4-BE49-F238E27FC236}">
                <a16:creationId xmlns:a16="http://schemas.microsoft.com/office/drawing/2014/main" id="{3AD0A97D-4626-B119-F74D-F3AC3131DB0A}"/>
              </a:ext>
            </a:extLst>
          </p:cNvPr>
          <p:cNvSpPr txBox="1"/>
          <p:nvPr/>
        </p:nvSpPr>
        <p:spPr>
          <a:xfrm>
            <a:off x="7072508" y="3059668"/>
            <a:ext cx="1087120" cy="369332"/>
          </a:xfrm>
          <a:prstGeom prst="rect">
            <a:avLst/>
          </a:prstGeom>
          <a:noFill/>
        </p:spPr>
        <p:txBody>
          <a:bodyPr wrap="square" rtlCol="0">
            <a:spAutoFit/>
          </a:bodyPr>
          <a:lstStyle/>
          <a:p>
            <a:r>
              <a:rPr lang="en-GB" dirty="0"/>
              <a:t>Move 3</a:t>
            </a:r>
          </a:p>
        </p:txBody>
      </p:sp>
      <p:cxnSp>
        <p:nvCxnSpPr>
          <p:cNvPr id="10" name="Straight Arrow Connector 9">
            <a:extLst>
              <a:ext uri="{FF2B5EF4-FFF2-40B4-BE49-F238E27FC236}">
                <a16:creationId xmlns:a16="http://schemas.microsoft.com/office/drawing/2014/main" id="{9AE6E4E0-EDD0-0DCC-368B-F43F3AE27CC1}"/>
              </a:ext>
            </a:extLst>
          </p:cNvPr>
          <p:cNvCxnSpPr>
            <a:stCxn id="2" idx="2"/>
            <a:endCxn id="4" idx="0"/>
          </p:cNvCxnSpPr>
          <p:nvPr/>
        </p:nvCxnSpPr>
        <p:spPr>
          <a:xfrm flipH="1">
            <a:off x="2727960" y="2543572"/>
            <a:ext cx="2646680" cy="516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E672D3B-2577-309B-0C1A-D88DE56B4C61}"/>
              </a:ext>
            </a:extLst>
          </p:cNvPr>
          <p:cNvCxnSpPr>
            <a:stCxn id="2" idx="2"/>
          </p:cNvCxnSpPr>
          <p:nvPr/>
        </p:nvCxnSpPr>
        <p:spPr>
          <a:xfrm>
            <a:off x="5374640" y="2543572"/>
            <a:ext cx="0" cy="516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42AB86D-7C8C-57CD-6D24-9BB8FA971170}"/>
              </a:ext>
            </a:extLst>
          </p:cNvPr>
          <p:cNvCxnSpPr>
            <a:stCxn id="2" idx="2"/>
            <a:endCxn id="8" idx="0"/>
          </p:cNvCxnSpPr>
          <p:nvPr/>
        </p:nvCxnSpPr>
        <p:spPr>
          <a:xfrm>
            <a:off x="5374640" y="2543572"/>
            <a:ext cx="2241428" cy="516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EE7ACFBB-80C1-5FAC-5A99-2943A17E1498}"/>
              </a:ext>
            </a:extLst>
          </p:cNvPr>
          <p:cNvSpPr txBox="1"/>
          <p:nvPr/>
        </p:nvSpPr>
        <p:spPr>
          <a:xfrm>
            <a:off x="8991600" y="2956560"/>
            <a:ext cx="2241428" cy="646331"/>
          </a:xfrm>
          <a:prstGeom prst="rect">
            <a:avLst/>
          </a:prstGeom>
          <a:noFill/>
        </p:spPr>
        <p:txBody>
          <a:bodyPr wrap="square" rtlCol="0">
            <a:spAutoFit/>
          </a:bodyPr>
          <a:lstStyle/>
          <a:p>
            <a:r>
              <a:rPr lang="en-GB" dirty="0"/>
              <a:t>OR Node(You choose 1 node)</a:t>
            </a:r>
          </a:p>
        </p:txBody>
      </p:sp>
      <p:sp>
        <p:nvSpPr>
          <p:cNvPr id="19" name="TextBox 18">
            <a:extLst>
              <a:ext uri="{FF2B5EF4-FFF2-40B4-BE49-F238E27FC236}">
                <a16:creationId xmlns:a16="http://schemas.microsoft.com/office/drawing/2014/main" id="{8167C5D4-75BE-DD7B-32C7-B019AD2DFBD1}"/>
              </a:ext>
            </a:extLst>
          </p:cNvPr>
          <p:cNvSpPr txBox="1"/>
          <p:nvPr/>
        </p:nvSpPr>
        <p:spPr>
          <a:xfrm>
            <a:off x="1463040" y="3972560"/>
            <a:ext cx="589280" cy="369332"/>
          </a:xfrm>
          <a:prstGeom prst="rect">
            <a:avLst/>
          </a:prstGeom>
          <a:noFill/>
        </p:spPr>
        <p:txBody>
          <a:bodyPr wrap="square" rtlCol="0">
            <a:spAutoFit/>
          </a:bodyPr>
          <a:lstStyle/>
          <a:p>
            <a:r>
              <a:rPr lang="en-GB" dirty="0"/>
              <a:t>O1</a:t>
            </a:r>
          </a:p>
        </p:txBody>
      </p:sp>
      <p:sp>
        <p:nvSpPr>
          <p:cNvPr id="21" name="TextBox 20">
            <a:extLst>
              <a:ext uri="{FF2B5EF4-FFF2-40B4-BE49-F238E27FC236}">
                <a16:creationId xmlns:a16="http://schemas.microsoft.com/office/drawing/2014/main" id="{71FFD2EF-C6ED-C77D-4CD5-38543837BEE3}"/>
              </a:ext>
            </a:extLst>
          </p:cNvPr>
          <p:cNvSpPr txBox="1"/>
          <p:nvPr/>
        </p:nvSpPr>
        <p:spPr>
          <a:xfrm>
            <a:off x="2128520" y="3982720"/>
            <a:ext cx="589280" cy="369332"/>
          </a:xfrm>
          <a:prstGeom prst="rect">
            <a:avLst/>
          </a:prstGeom>
          <a:noFill/>
        </p:spPr>
        <p:txBody>
          <a:bodyPr wrap="square" rtlCol="0">
            <a:spAutoFit/>
          </a:bodyPr>
          <a:lstStyle/>
          <a:p>
            <a:r>
              <a:rPr lang="en-GB" dirty="0"/>
              <a:t>O2</a:t>
            </a:r>
          </a:p>
        </p:txBody>
      </p:sp>
      <p:sp>
        <p:nvSpPr>
          <p:cNvPr id="23" name="TextBox 22">
            <a:extLst>
              <a:ext uri="{FF2B5EF4-FFF2-40B4-BE49-F238E27FC236}">
                <a16:creationId xmlns:a16="http://schemas.microsoft.com/office/drawing/2014/main" id="{5C2E0A62-3F3A-933C-795B-B8710EDC654F}"/>
              </a:ext>
            </a:extLst>
          </p:cNvPr>
          <p:cNvSpPr txBox="1"/>
          <p:nvPr/>
        </p:nvSpPr>
        <p:spPr>
          <a:xfrm>
            <a:off x="2727960" y="3985736"/>
            <a:ext cx="589280" cy="369332"/>
          </a:xfrm>
          <a:prstGeom prst="rect">
            <a:avLst/>
          </a:prstGeom>
          <a:noFill/>
        </p:spPr>
        <p:txBody>
          <a:bodyPr wrap="square" rtlCol="0">
            <a:spAutoFit/>
          </a:bodyPr>
          <a:lstStyle/>
          <a:p>
            <a:r>
              <a:rPr lang="en-GB" dirty="0"/>
              <a:t>O3</a:t>
            </a:r>
          </a:p>
        </p:txBody>
      </p:sp>
      <p:cxnSp>
        <p:nvCxnSpPr>
          <p:cNvPr id="25" name="Straight Arrow Connector 24">
            <a:extLst>
              <a:ext uri="{FF2B5EF4-FFF2-40B4-BE49-F238E27FC236}">
                <a16:creationId xmlns:a16="http://schemas.microsoft.com/office/drawing/2014/main" id="{F4049544-7BFE-8A9A-E27B-05EBAE85562F}"/>
              </a:ext>
            </a:extLst>
          </p:cNvPr>
          <p:cNvCxnSpPr>
            <a:stCxn id="4" idx="2"/>
            <a:endCxn id="19" idx="0"/>
          </p:cNvCxnSpPr>
          <p:nvPr/>
        </p:nvCxnSpPr>
        <p:spPr>
          <a:xfrm flipH="1">
            <a:off x="1757680" y="3429000"/>
            <a:ext cx="970280" cy="5435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B966782-812B-BB9C-B5CD-2A0BCA9C82A3}"/>
              </a:ext>
            </a:extLst>
          </p:cNvPr>
          <p:cNvCxnSpPr>
            <a:stCxn id="4" idx="2"/>
            <a:endCxn id="21" idx="0"/>
          </p:cNvCxnSpPr>
          <p:nvPr/>
        </p:nvCxnSpPr>
        <p:spPr>
          <a:xfrm flipH="1">
            <a:off x="2423160" y="3429000"/>
            <a:ext cx="304800" cy="553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4E7C0E7-EEC2-8DDF-66EC-795B0B0F4272}"/>
              </a:ext>
            </a:extLst>
          </p:cNvPr>
          <p:cNvCxnSpPr>
            <a:stCxn id="4" idx="2"/>
            <a:endCxn id="23" idx="0"/>
          </p:cNvCxnSpPr>
          <p:nvPr/>
        </p:nvCxnSpPr>
        <p:spPr>
          <a:xfrm>
            <a:off x="2727960" y="3429000"/>
            <a:ext cx="294640" cy="5567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9A686DF5-7E6C-E298-58F9-5E46BE70B226}"/>
              </a:ext>
            </a:extLst>
          </p:cNvPr>
          <p:cNvSpPr txBox="1"/>
          <p:nvPr/>
        </p:nvSpPr>
        <p:spPr>
          <a:xfrm>
            <a:off x="5943600" y="4911782"/>
            <a:ext cx="6096000" cy="1477328"/>
          </a:xfrm>
          <a:prstGeom prst="rect">
            <a:avLst/>
          </a:prstGeom>
          <a:noFill/>
        </p:spPr>
        <p:txBody>
          <a:bodyPr wrap="square">
            <a:spAutoFit/>
          </a:bodyPr>
          <a:lstStyle/>
          <a:p>
            <a:pPr>
              <a:buNone/>
            </a:pPr>
            <a:r>
              <a:rPr lang="en-GB" b="1" dirty="0">
                <a:effectLst/>
                <a:latin typeface="Google Sans Text"/>
              </a:rPr>
              <a:t>OR Nodes:</a:t>
            </a:r>
            <a:r>
              <a:rPr lang="en-GB" dirty="0">
                <a:effectLst/>
                <a:latin typeface="Google Sans Text"/>
              </a:rPr>
              <a:t> The Root node and its grandchildren, where player </a:t>
            </a:r>
            <a:r>
              <a:rPr lang="en-GB" b="1" dirty="0">
                <a:effectLst/>
                <a:latin typeface="Google Sans Text"/>
              </a:rPr>
              <a:t>X</a:t>
            </a:r>
            <a:r>
              <a:rPr lang="en-GB" dirty="0">
                <a:effectLst/>
                <a:latin typeface="Google Sans Text"/>
              </a:rPr>
              <a:t> selects their preferred move.</a:t>
            </a:r>
          </a:p>
          <a:p>
            <a:pPr>
              <a:buNone/>
            </a:pPr>
            <a:r>
              <a:rPr lang="en-GB" b="1" dirty="0">
                <a:effectLst/>
                <a:latin typeface="Google Sans Text"/>
              </a:rPr>
              <a:t>AND Nodes:</a:t>
            </a:r>
            <a:r>
              <a:rPr lang="en-GB" dirty="0">
                <a:effectLst/>
                <a:latin typeface="Google Sans Text"/>
              </a:rPr>
              <a:t> The children of the root node, where player </a:t>
            </a:r>
            <a:r>
              <a:rPr lang="en-GB" b="1" dirty="0">
                <a:effectLst/>
                <a:latin typeface="Google Sans Text"/>
              </a:rPr>
              <a:t>O</a:t>
            </a:r>
            <a:r>
              <a:rPr lang="en-GB" dirty="0">
                <a:effectLst/>
                <a:latin typeface="Google Sans Text"/>
              </a:rPr>
              <a:t> makes their move, requiring the system to evaluate every possible path to guarantee an effective strategy.</a:t>
            </a:r>
          </a:p>
        </p:txBody>
      </p:sp>
      <p:sp>
        <p:nvSpPr>
          <p:cNvPr id="32" name="TextBox 31">
            <a:extLst>
              <a:ext uri="{FF2B5EF4-FFF2-40B4-BE49-F238E27FC236}">
                <a16:creationId xmlns:a16="http://schemas.microsoft.com/office/drawing/2014/main" id="{698AE363-8093-68B1-4149-664D78BCC2A8}"/>
              </a:ext>
            </a:extLst>
          </p:cNvPr>
          <p:cNvSpPr txBox="1"/>
          <p:nvPr/>
        </p:nvSpPr>
        <p:spPr>
          <a:xfrm>
            <a:off x="2" y="3429000"/>
            <a:ext cx="2062478" cy="1754326"/>
          </a:xfrm>
          <a:prstGeom prst="rect">
            <a:avLst/>
          </a:prstGeom>
          <a:noFill/>
        </p:spPr>
        <p:txBody>
          <a:bodyPr wrap="square" rtlCol="0">
            <a:spAutoFit/>
          </a:bodyPr>
          <a:lstStyle/>
          <a:p>
            <a:r>
              <a:rPr lang="en-GB" dirty="0"/>
              <a:t>AND Nodes</a:t>
            </a:r>
          </a:p>
          <a:p>
            <a:r>
              <a:rPr lang="en-GB" dirty="0"/>
              <a:t>(Opponent Turn)</a:t>
            </a:r>
          </a:p>
          <a:p>
            <a:endParaRPr lang="en-GB" dirty="0"/>
          </a:p>
          <a:p>
            <a:r>
              <a:rPr lang="en-GB" dirty="0"/>
              <a:t>Must develop a strategy for ALL valid O responses</a:t>
            </a:r>
          </a:p>
        </p:txBody>
      </p:sp>
    </p:spTree>
    <p:extLst>
      <p:ext uri="{BB962C8B-B14F-4D97-AF65-F5344CB8AC3E}">
        <p14:creationId xmlns:p14="http://schemas.microsoft.com/office/powerpoint/2010/main" val="127869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A0D7AA-8A21-B977-56ED-94406F29957C}"/>
              </a:ext>
            </a:extLst>
          </p:cNvPr>
          <p:cNvSpPr>
            <a:spLocks noGrp="1"/>
          </p:cNvSpPr>
          <p:nvPr>
            <p:ph type="ctrTitle"/>
          </p:nvPr>
        </p:nvSpPr>
        <p:spPr>
          <a:xfrm>
            <a:off x="1133856" y="56450"/>
            <a:ext cx="9912096" cy="2743200"/>
          </a:xfrm>
          <a:noFill/>
        </p:spPr>
        <p:txBody>
          <a:bodyPr anchor="b">
            <a:noAutofit/>
          </a:bodyPr>
          <a:lstStyle/>
          <a:p>
            <a:r>
              <a:rPr lang="en-US" dirty="0"/>
              <a:t>Thank you</a:t>
            </a:r>
          </a:p>
        </p:txBody>
      </p:sp>
    </p:spTree>
    <p:extLst>
      <p:ext uri="{BB962C8B-B14F-4D97-AF65-F5344CB8AC3E}">
        <p14:creationId xmlns:p14="http://schemas.microsoft.com/office/powerpoint/2010/main" val="3751616652"/>
      </p:ext>
    </p:extLst>
  </p:cSld>
  <p:clrMapOvr>
    <a:masterClrMapping/>
  </p:clrMapOvr>
</p:sld>
</file>

<file path=ppt/theme/theme1.xml><?xml version="1.0" encoding="utf-8"?>
<a:theme xmlns:a="http://schemas.openxmlformats.org/drawingml/2006/main" name="Custom">
  <a:themeElements>
    <a:clrScheme name="Blue spheres">
      <a:dk1>
        <a:srgbClr val="000000"/>
      </a:dk1>
      <a:lt1>
        <a:srgbClr val="FFFFFF"/>
      </a:lt1>
      <a:dk2>
        <a:srgbClr val="E3E7ED"/>
      </a:dk2>
      <a:lt2>
        <a:srgbClr val="E8E8E8"/>
      </a:lt2>
      <a:accent1>
        <a:srgbClr val="7673F7"/>
      </a:accent1>
      <a:accent2>
        <a:srgbClr val="B8C2FD"/>
      </a:accent2>
      <a:accent3>
        <a:srgbClr val="DFE3FC"/>
      </a:accent3>
      <a:accent4>
        <a:srgbClr val="55B3FD"/>
      </a:accent4>
      <a:accent5>
        <a:srgbClr val="99F7F7"/>
      </a:accent5>
      <a:accent6>
        <a:srgbClr val="FEE43F"/>
      </a:accent6>
      <a:hlink>
        <a:srgbClr val="467886"/>
      </a:hlink>
      <a:folHlink>
        <a:srgbClr val="96607D"/>
      </a:folHlink>
    </a:clrScheme>
    <a:fontScheme name="Custom 23">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4076243_win32_CP_V3" id="{81AB0711-29F9-49D0-8A73-16AF25FD4C08}" vid="{D5AD44AB-53B9-4654-A4F8-1821A28F27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Props1.xml><?xml version="1.0" encoding="utf-8"?>
<ds:datastoreItem xmlns:ds="http://schemas.openxmlformats.org/officeDocument/2006/customXml" ds:itemID="{B0C07E3D-60A7-4F4E-8208-D9CCD01982CB}">
  <ds:schemaRefs>
    <ds:schemaRef ds:uri="http://schemas.microsoft.com/sharepoint/v3/contenttype/forms"/>
  </ds:schemaRefs>
</ds:datastoreItem>
</file>

<file path=customXml/itemProps2.xml><?xml version="1.0" encoding="utf-8"?>
<ds:datastoreItem xmlns:ds="http://schemas.openxmlformats.org/officeDocument/2006/customXml" ds:itemID="{567F3CB5-3475-4129-AB60-D0C937DE91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EA9B47F-3DD8-4645-81DC-B88780643C07}">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Blue spheres presentation</Template>
  <TotalTime>1583</TotalTime>
  <Words>2557</Words>
  <Application>Microsoft Office PowerPoint</Application>
  <PresentationFormat>Widescreen</PresentationFormat>
  <Paragraphs>162</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Arial</vt:lpstr>
      <vt:lpstr>Calibri</vt:lpstr>
      <vt:lpstr>Google Sans Text</vt:lpstr>
      <vt:lpstr>Wingdings</vt:lpstr>
      <vt:lpstr>Custom</vt:lpstr>
      <vt:lpstr>Intro To AI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Abdulrahman Elmadkhoum</dc:creator>
  <cp:lastModifiedBy>Abdulrahman Elmadkhoum</cp:lastModifiedBy>
  <cp:revision>7</cp:revision>
  <dcterms:created xsi:type="dcterms:W3CDTF">2026-07-18T14:14:54Z</dcterms:created>
  <dcterms:modified xsi:type="dcterms:W3CDTF">2026-07-19T16:40:47Z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